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7" r:id="rId2"/>
    <p:sldId id="265" r:id="rId3"/>
    <p:sldId id="268" r:id="rId4"/>
    <p:sldId id="271" r:id="rId5"/>
    <p:sldId id="269" r:id="rId6"/>
    <p:sldId id="272" r:id="rId7"/>
    <p:sldId id="276" r:id="rId8"/>
    <p:sldId id="275" r:id="rId9"/>
    <p:sldId id="277" r:id="rId10"/>
    <p:sldId id="258" r:id="rId11"/>
    <p:sldId id="259" r:id="rId12"/>
    <p:sldId id="263" r:id="rId13"/>
    <p:sldId id="266" r:id="rId14"/>
    <p:sldId id="273"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E604A5BC-FB6B-41DB-876E-0F87741DAB0B}">
          <p14:sldIdLst>
            <p14:sldId id="257"/>
            <p14:sldId id="265"/>
            <p14:sldId id="268"/>
            <p14:sldId id="271"/>
            <p14:sldId id="269"/>
            <p14:sldId id="272"/>
            <p14:sldId id="276"/>
            <p14:sldId id="275"/>
          </p14:sldIdLst>
        </p14:section>
        <p14:section name="Backup" id="{D5104A5C-1464-42CB-B1E5-11F0255247B6}">
          <p14:sldIdLst>
            <p14:sldId id="277"/>
            <p14:sldId id="258"/>
            <p14:sldId id="259"/>
            <p14:sldId id="263"/>
            <p14:sldId id="266"/>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61"/>
    <a:srgbClr val="F0F2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53" autoAdjust="0"/>
    <p:restoredTop sz="50907" autoAdjust="0"/>
  </p:normalViewPr>
  <p:slideViewPr>
    <p:cSldViewPr snapToGrid="0">
      <p:cViewPr varScale="1">
        <p:scale>
          <a:sx n="64" d="100"/>
          <a:sy n="64" d="100"/>
        </p:scale>
        <p:origin x="268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E4BF6-4F13-4DA6-8587-A4F57D0EB927}"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CD6806-1967-4058-B345-02E9DEDBF24F}" type="slidenum">
              <a:rPr lang="en-US" smtClean="0"/>
              <a:t>‹#›</a:t>
            </a:fld>
            <a:endParaRPr lang="en-US"/>
          </a:p>
        </p:txBody>
      </p:sp>
    </p:spTree>
    <p:extLst>
      <p:ext uri="{BB962C8B-B14F-4D97-AF65-F5344CB8AC3E}">
        <p14:creationId xmlns:p14="http://schemas.microsoft.com/office/powerpoint/2010/main" val="3177228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A81BC-B581-E8BE-69AC-89DB134B7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FCDEE-0224-9E2F-5DFC-471067F04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5C4FC7-9415-5E83-0150-07B119F6B23A}"/>
              </a:ext>
            </a:extLst>
          </p:cNvPr>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left, we have the BSM PDE and on the right we have the PDF transport equation. (We can note that the BSM PDE is of the same form as many transport equations we have worked with this term.)</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key point is that both equations are derived from SDEs of the same drift + </a:t>
            </a:r>
            <a:r>
              <a:rPr lang="en-US" sz="1200" kern="1200" dirty="0" err="1">
                <a:solidFill>
                  <a:schemeClr val="tx1"/>
                </a:solidFill>
                <a:effectLst/>
                <a:latin typeface="+mn-lt"/>
                <a:ea typeface="+mn-ea"/>
                <a:cs typeface="+mn-cs"/>
              </a:rPr>
              <a:t>difusion</a:t>
            </a:r>
            <a:r>
              <a:rPr lang="en-US" sz="1200" kern="1200" dirty="0">
                <a:solidFill>
                  <a:schemeClr val="tx1"/>
                </a:solidFill>
                <a:effectLst/>
                <a:latin typeface="+mn-lt"/>
                <a:ea typeface="+mn-ea"/>
                <a:cs typeface="+mn-cs"/>
              </a:rPr>
              <a:t> form (deterministic drift + random fluctuations driven by a Wiener process). Both equations can also be derived using Ito's Lemma and stochastic calculus.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One key distinction that should be made is that the BSM equation computes the conditional expectation of a future payoff given the current state, then discounts it back to give the current option price. In other words, for BSM, you use the PDF at expiry to find the expected payoff, then discount it back to today (this is done implicitly with the SDE hedging described previously, but later we show how this is done explicitly with a Monte Carlo simulation).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One thing to note is that the drift and diffusion coefficients are constant for the Brownian Motion SDE, but depend on the particles current position and velocity for the Langevin equation. We will return to this later.</a:t>
            </a:r>
          </a:p>
          <a:p>
            <a:endParaRPr lang="en-US" dirty="0"/>
          </a:p>
        </p:txBody>
      </p:sp>
      <p:sp>
        <p:nvSpPr>
          <p:cNvPr id="4" name="Slide Number Placeholder 3">
            <a:extLst>
              <a:ext uri="{FF2B5EF4-FFF2-40B4-BE49-F238E27FC236}">
                <a16:creationId xmlns:a16="http://schemas.microsoft.com/office/drawing/2014/main" id="{A1237CBE-6FFD-5822-41C0-16B9103B00A2}"/>
              </a:ext>
            </a:extLst>
          </p:cNvPr>
          <p:cNvSpPr>
            <a:spLocks noGrp="1"/>
          </p:cNvSpPr>
          <p:nvPr>
            <p:ph type="sldNum" sz="quarter" idx="5"/>
          </p:nvPr>
        </p:nvSpPr>
        <p:spPr/>
        <p:txBody>
          <a:bodyPr/>
          <a:lstStyle/>
          <a:p>
            <a:fld id="{58CD6806-1967-4058-B345-02E9DEDBF24F}" type="slidenum">
              <a:rPr lang="en-US" smtClean="0"/>
              <a:t>2</a:t>
            </a:fld>
            <a:endParaRPr lang="en-US"/>
          </a:p>
        </p:txBody>
      </p:sp>
    </p:spTree>
    <p:extLst>
      <p:ext uri="{BB962C8B-B14F-4D97-AF65-F5344CB8AC3E}">
        <p14:creationId xmlns:p14="http://schemas.microsoft.com/office/powerpoint/2010/main" val="1065257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9BD45-E491-67F9-5778-2E4EBF809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4231D-AD19-B948-D0BE-B8CC8D0D8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ED70E-5761-7713-AFB5-E4E60E176226}"/>
              </a:ext>
            </a:extLst>
          </p:cNvPr>
          <p:cNvSpPr>
            <a:spLocks noGrp="1"/>
          </p:cNvSpPr>
          <p:nvPr>
            <p:ph type="body" idx="1"/>
          </p:nvPr>
        </p:nvSpPr>
        <p:spPr/>
        <p:txBody>
          <a:bodyPr/>
          <a:lstStyle/>
          <a:p>
            <a:pPr marL="171450" indent="-171450">
              <a:buFont typeface="Arial" panose="020B0604020202020204" pitchFamily="34" charset="0"/>
              <a:buChar char="•"/>
            </a:pPr>
            <a:r>
              <a:rPr lang="en-US" sz="1200" b="0" kern="1200" dirty="0">
                <a:solidFill>
                  <a:schemeClr val="tx1"/>
                </a:solidFill>
                <a:effectLst/>
                <a:latin typeface="+mn-lt"/>
                <a:ea typeface="+mn-ea"/>
                <a:cs typeface="+mn-cs"/>
              </a:rPr>
              <a:t>To explore the different solution methods, I decided to write a python script to compare the two mentioned above for the BSM equation. The plot shows the option value for a European call versus stock prices. </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The Eulerian approach solves the PDE directly on a fixed grid using implicit finite difference scheme, and second order central difference stencils for the first and second derivative terms. Doing so resulted in a tridiagonal system that was extremely similar to what we saw in Project 01 and Flip Classroom Exercise 01. This idea was inspired by Professor Zhao provided me with a repository for </a:t>
            </a:r>
            <a:r>
              <a:rPr lang="en-US" sz="1200" b="0" kern="1200" dirty="0" err="1">
                <a:solidFill>
                  <a:schemeClr val="tx1"/>
                </a:solidFill>
                <a:effectLst/>
                <a:latin typeface="+mn-lt"/>
                <a:ea typeface="+mn-ea"/>
                <a:cs typeface="+mn-cs"/>
              </a:rPr>
              <a:t>OpenFoam</a:t>
            </a:r>
            <a:r>
              <a:rPr lang="en-US" sz="1200" b="0" kern="1200" dirty="0">
                <a:solidFill>
                  <a:schemeClr val="tx1"/>
                </a:solidFill>
                <a:effectLst/>
                <a:latin typeface="+mn-lt"/>
                <a:ea typeface="+mn-ea"/>
                <a:cs typeface="+mn-cs"/>
              </a:rPr>
              <a:t> (more specifically </a:t>
            </a:r>
            <a:r>
              <a:rPr lang="en-US" sz="1200" b="0" kern="1200" dirty="0" err="1">
                <a:solidFill>
                  <a:schemeClr val="tx1"/>
                </a:solidFill>
                <a:effectLst/>
                <a:latin typeface="+mn-lt"/>
                <a:ea typeface="+mn-ea"/>
                <a:cs typeface="+mn-cs"/>
              </a:rPr>
              <a:t>finacialFoam</a:t>
            </a:r>
            <a:r>
              <a:rPr lang="en-US" sz="1200" b="0" kern="1200" dirty="0">
                <a:solidFill>
                  <a:schemeClr val="tx1"/>
                </a:solidFill>
                <a:effectLst/>
                <a:latin typeface="+mn-lt"/>
                <a:ea typeface="+mn-ea"/>
                <a:cs typeface="+mn-cs"/>
              </a:rPr>
              <a:t>), which executes solves the BSM equation using FVM.</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The Lagrangian approach simulated 200,000 random stock price trajectories (GBM paths) for 80 stock prices between $50 and $200 using a Monte Carlo simulation, averaged the payoffs, and discounted them, back to present day value.</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4392878-CD71-150F-078B-0E87A12547A1}"/>
              </a:ext>
            </a:extLst>
          </p:cNvPr>
          <p:cNvSpPr>
            <a:spLocks noGrp="1"/>
          </p:cNvSpPr>
          <p:nvPr>
            <p:ph type="sldNum" sz="quarter" idx="5"/>
          </p:nvPr>
        </p:nvSpPr>
        <p:spPr/>
        <p:txBody>
          <a:bodyPr/>
          <a:lstStyle/>
          <a:p>
            <a:fld id="{58CD6806-1967-4058-B345-02E9DEDBF24F}" type="slidenum">
              <a:rPr lang="en-US" smtClean="0"/>
              <a:t>3</a:t>
            </a:fld>
            <a:endParaRPr lang="en-US"/>
          </a:p>
        </p:txBody>
      </p:sp>
    </p:spTree>
    <p:extLst>
      <p:ext uri="{BB962C8B-B14F-4D97-AF65-F5344CB8AC3E}">
        <p14:creationId xmlns:p14="http://schemas.microsoft.com/office/powerpoint/2010/main" val="1459861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055DD-7466-CAA0-58AC-188D306E0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08DEE-B7B8-B08B-FB1D-35FC209A1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67429-CB8A-4678-5C1F-4762C1A4A3EB}"/>
              </a:ext>
            </a:extLst>
          </p:cNvPr>
          <p:cNvSpPr>
            <a:spLocks noGrp="1"/>
          </p:cNvSpPr>
          <p:nvPr>
            <p:ph type="body" idx="1"/>
          </p:nvPr>
        </p:nvSpPr>
        <p:spPr/>
        <p:txBody>
          <a:bodyPr/>
          <a:lstStyle/>
          <a:p>
            <a:pPr marL="171450" indent="-171450">
              <a:buFont typeface="Arial" panose="020B0604020202020204" pitchFamily="34" charset="0"/>
              <a:buChar char="•"/>
            </a:pPr>
            <a:r>
              <a:rPr lang="en-US" sz="1200" b="0" kern="1200" dirty="0">
                <a:solidFill>
                  <a:schemeClr val="tx1"/>
                </a:solidFill>
                <a:effectLst/>
                <a:latin typeface="+mn-lt"/>
                <a:ea typeface="+mn-ea"/>
                <a:cs typeface="+mn-cs"/>
              </a:rPr>
              <a:t>Here we can see an example  of 30 paths sampled from 100 simulated paths, along with the mean and expected price. </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We can now extract data from the full Monte Carlo analysis to construct the transport of the PDF of the stock price</a:t>
            </a:r>
          </a:p>
        </p:txBody>
      </p:sp>
      <p:sp>
        <p:nvSpPr>
          <p:cNvPr id="4" name="Slide Number Placeholder 3">
            <a:extLst>
              <a:ext uri="{FF2B5EF4-FFF2-40B4-BE49-F238E27FC236}">
                <a16:creationId xmlns:a16="http://schemas.microsoft.com/office/drawing/2014/main" id="{CDFA4629-B88B-5132-5B80-583CCD4F5F3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CD6806-1967-4058-B345-02E9DEDBF2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6715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0EA8D-E6B3-4799-3742-FA55FE01F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A71B7-38EC-3EF8-1572-1BA3AE780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6E01D-6F63-09FA-3FC3-5D4F79F7FBE7}"/>
              </a:ext>
            </a:extLst>
          </p:cNvPr>
          <p:cNvSpPr>
            <a:spLocks noGrp="1"/>
          </p:cNvSpPr>
          <p:nvPr>
            <p:ph type="body" idx="1"/>
          </p:nvPr>
        </p:nvSpPr>
        <p:spPr/>
        <p:txBody>
          <a:bodyPr/>
          <a:lstStyle/>
          <a:p>
            <a:pPr marL="171450" indent="-171450">
              <a:buFont typeface="Arial" panose="020B0604020202020204" pitchFamily="34" charset="0"/>
              <a:buChar char="•"/>
            </a:pPr>
            <a:r>
              <a:rPr lang="en-US" sz="1200" b="0" kern="1200" dirty="0">
                <a:solidFill>
                  <a:schemeClr val="tx1"/>
                </a:solidFill>
                <a:effectLst/>
                <a:latin typeface="+mn-lt"/>
                <a:ea typeface="+mn-ea"/>
                <a:cs typeface="+mn-cs"/>
              </a:rPr>
              <a:t>Here is a 3D surface resembling the transport of the PDF of the stock price (constructed entirely from Monte Carlo particle data).</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This is exactly how one can imagine the transported PDF method for a turbulent flow.</a:t>
            </a:r>
          </a:p>
        </p:txBody>
      </p:sp>
      <p:sp>
        <p:nvSpPr>
          <p:cNvPr id="4" name="Slide Number Placeholder 3">
            <a:extLst>
              <a:ext uri="{FF2B5EF4-FFF2-40B4-BE49-F238E27FC236}">
                <a16:creationId xmlns:a16="http://schemas.microsoft.com/office/drawing/2014/main" id="{62DEFA87-DC53-CDCF-07DC-7A2DE20FD63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CD6806-1967-4058-B345-02E9DEDBF2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4604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CA09-8451-23B5-D50A-9EFE3D0F6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DCF90-8C03-F647-E7C0-860A2747AD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F99B5-54B8-8927-6B59-C6BC5AC7FC8D}"/>
              </a:ext>
            </a:extLst>
          </p:cNvPr>
          <p:cNvSpPr>
            <a:spLocks noGrp="1"/>
          </p:cNvSpPr>
          <p:nvPr>
            <p:ph type="body" idx="1"/>
          </p:nvPr>
        </p:nvSpPr>
        <p:spPr/>
        <p:txBody>
          <a:bodyPr/>
          <a:lstStyle/>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This plot was created to help us visualize those concepts of drift and diffusion.</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The shaded bars are pdfs constructed from Monte Carlo data plotted as histograms, and the solid curves are the exact analytical log-normal PDFs. Over time, the volatility spreads the distribution of possible stock prices, and the drift shifts it to the right.</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The can conceptualize this for a turbulent flow, where drift can be thought of as where the average velocity tends to go, and diffusion as how strongly turbulence randomizes the velocity around the mean</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The should note that Hull uses Ito's Lemma to show that, for our GBM model, the price of a stock at a given time follows a lognormal distribution. Therefore, we can use the standard equation for the probability density function of a lognormal variable. For the Langevin SDE, because the coefficients vary with respect to particle velocity/position and time, we don’t have this luxury, so we must construct the PDFs for given time steps using the data from the Monte Carlo simulation.</a:t>
            </a:r>
          </a:p>
          <a:p>
            <a:endParaRPr lang="en-US" dirty="0"/>
          </a:p>
        </p:txBody>
      </p:sp>
      <p:sp>
        <p:nvSpPr>
          <p:cNvPr id="4" name="Slide Number Placeholder 3">
            <a:extLst>
              <a:ext uri="{FF2B5EF4-FFF2-40B4-BE49-F238E27FC236}">
                <a16:creationId xmlns:a16="http://schemas.microsoft.com/office/drawing/2014/main" id="{F531C8A8-1C7E-1F58-0422-9EDA0EB20A7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CD6806-1967-4058-B345-02E9DEDBF2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496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DE137-8C04-0240-AF4D-8917E04C4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BAFB7-6EB2-9D8C-A0FA-871C601C93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5B270-AA8B-C7EE-2A56-417DCDAAEAD2}"/>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Finally, to recap what we discussed:</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The BSM the Fokker-Planck (forward Kolmogorov equation) are both derived from SDEs of the same form. This directly connects financial derivative pricing to the transported PDF method in CFD.</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 Second, the same results (validated against the exact analytical formula) can be obtained from both Eulerian and Lagrangian methods as demonstrated with the BSM equation.</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Third, Monte Carlo particle simulations reproduce the analytical PDF</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Fourth, BSM is actually a great validation problem because closed-form solutions exist for both the SDE and the PDF. In turbulent flows, these may not exist, which is why particle methods become essential.</a:t>
            </a:r>
          </a:p>
          <a:p>
            <a:pPr marL="171450" indent="-171450">
              <a:buFont typeface="Arial" panose="020B0604020202020204" pitchFamily="34" charset="0"/>
              <a:buChar char="•"/>
            </a:pPr>
            <a:r>
              <a:rPr lang="en-US" sz="1200" b="0" kern="1200" dirty="0">
                <a:solidFill>
                  <a:schemeClr val="tx1"/>
                </a:solidFill>
                <a:effectLst/>
                <a:latin typeface="+mn-lt"/>
                <a:ea typeface="+mn-ea"/>
                <a:cs typeface="+mn-cs"/>
              </a:rPr>
              <a:t>Finally, Advancements in financial modeling and computational fluid dynamics are mutually beneficial. Numerical methods/variance reduction can transfer directly between CFD and quantitative finance, so techniques/methods developed in either discipline can be utilized by/applied to problems in the other.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effectLst/>
                <a:latin typeface="+mn-lt"/>
                <a:ea typeface="+mn-ea"/>
                <a:cs typeface="+mn-cs"/>
              </a:rPr>
              <a:t>One other thing we should note is although I did use a Eulerian solution method for demonstration here, Professor Zhao (and Pope) mention that this </a:t>
            </a:r>
            <a:r>
              <a:rPr lang="en-US" sz="1200" b="0" kern="1200" dirty="0" err="1">
                <a:solidFill>
                  <a:schemeClr val="tx1"/>
                </a:solidFill>
                <a:effectLst/>
                <a:latin typeface="+mn-lt"/>
                <a:ea typeface="+mn-ea"/>
                <a:cs typeface="+mn-cs"/>
              </a:rPr>
              <a:t>isnt</a:t>
            </a:r>
            <a:r>
              <a:rPr lang="en-US" sz="1200" b="0" kern="1200" dirty="0">
                <a:solidFill>
                  <a:schemeClr val="tx1"/>
                </a:solidFill>
                <a:effectLst/>
                <a:latin typeface="+mn-lt"/>
                <a:ea typeface="+mn-ea"/>
                <a:cs typeface="+mn-cs"/>
              </a:rPr>
              <a:t> really feasible for high dimensional Joint PDFs.</a:t>
            </a:r>
          </a:p>
          <a:p>
            <a:pPr marL="0" indent="0">
              <a:buFont typeface="Arial" panose="020B0604020202020204" pitchFamily="34" charset="0"/>
              <a:buNone/>
            </a:pPr>
            <a:endParaRPr lang="en-US" sz="1200" b="0" kern="1200" dirty="0">
              <a:solidFill>
                <a:schemeClr val="tx1"/>
              </a:solidFill>
              <a:effectLst/>
              <a:latin typeface="+mn-lt"/>
              <a:ea typeface="+mn-ea"/>
              <a:cs typeface="+mn-cs"/>
            </a:endParaRP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Thank you!</a:t>
            </a:r>
          </a:p>
          <a:p>
            <a:endParaRPr lang="en-US" dirty="0"/>
          </a:p>
        </p:txBody>
      </p:sp>
      <p:sp>
        <p:nvSpPr>
          <p:cNvPr id="4" name="Slide Number Placeholder 3">
            <a:extLst>
              <a:ext uri="{FF2B5EF4-FFF2-40B4-BE49-F238E27FC236}">
                <a16:creationId xmlns:a16="http://schemas.microsoft.com/office/drawing/2014/main" id="{8F2AD6C4-AEBF-1CDF-B7FF-E92CF102078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9247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7936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0F2BF-2501-8059-3E58-4C0341529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0958D-7D9E-88FC-BD4A-F439A52653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9F793D-EAC8-7471-16A4-70037CD9D9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C47CE1-5D2F-2FE2-95DC-F52017534B9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8432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58CD6806-1967-4058-B345-02E9DEDBF24F}" type="slidenum">
              <a:rPr lang="en-US" smtClean="0"/>
              <a:t>10</a:t>
            </a:fld>
            <a:endParaRPr lang="en-US"/>
          </a:p>
        </p:txBody>
      </p:sp>
    </p:spTree>
    <p:extLst>
      <p:ext uri="{BB962C8B-B14F-4D97-AF65-F5344CB8AC3E}">
        <p14:creationId xmlns:p14="http://schemas.microsoft.com/office/powerpoint/2010/main" val="2575283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CD6806-1967-4058-B345-02E9DEDBF24F}" type="slidenum">
              <a:rPr lang="en-US" smtClean="0"/>
              <a:t>12</a:t>
            </a:fld>
            <a:endParaRPr lang="en-US"/>
          </a:p>
        </p:txBody>
      </p:sp>
    </p:spTree>
    <p:extLst>
      <p:ext uri="{BB962C8B-B14F-4D97-AF65-F5344CB8AC3E}">
        <p14:creationId xmlns:p14="http://schemas.microsoft.com/office/powerpoint/2010/main" val="1716396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CCCB6-CBB9-DB67-B3B7-C0D910969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BA23A-8C91-726E-B619-7A9B4172A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6744E-6970-594E-DDD8-5EBB62D9B1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6D228-D4DD-E932-C991-CE6831725942}"/>
              </a:ext>
            </a:extLst>
          </p:cNvPr>
          <p:cNvSpPr>
            <a:spLocks noGrp="1"/>
          </p:cNvSpPr>
          <p:nvPr>
            <p:ph type="sldNum" sz="quarter" idx="5"/>
          </p:nvPr>
        </p:nvSpPr>
        <p:spPr/>
        <p:txBody>
          <a:bodyPr/>
          <a:lstStyle/>
          <a:p>
            <a:fld id="{58CD6806-1967-4058-B345-02E9DEDBF24F}" type="slidenum">
              <a:rPr lang="en-US" smtClean="0"/>
              <a:t>13</a:t>
            </a:fld>
            <a:endParaRPr lang="en-US"/>
          </a:p>
        </p:txBody>
      </p:sp>
    </p:spTree>
    <p:extLst>
      <p:ext uri="{BB962C8B-B14F-4D97-AF65-F5344CB8AC3E}">
        <p14:creationId xmlns:p14="http://schemas.microsoft.com/office/powerpoint/2010/main" val="1463310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2BE7B-27E1-24B1-D48D-AD9D5B904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1C8E5-8BB6-FA64-2AB8-42B81778FA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FE9AA-20E2-DA0E-77B0-0715DA7D97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AC1039-9BA4-DE2C-35F3-15045F637FE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CD6806-1967-4058-B345-02E9DEDBF2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8321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9668A-1CAE-8D7E-E2F6-A5DCE9AB7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CD6F9-40C7-9918-D517-42E31378B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2195B-939C-F86A-0DD1-2A4A6A4DF1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B1EB2E-6CA4-4F24-5887-635A144BBE4C}"/>
              </a:ext>
            </a:extLst>
          </p:cNvPr>
          <p:cNvSpPr>
            <a:spLocks noGrp="1"/>
          </p:cNvSpPr>
          <p:nvPr>
            <p:ph type="sldNum" sz="quarter" idx="5"/>
          </p:nvPr>
        </p:nvSpPr>
        <p:spPr/>
        <p:txBody>
          <a:bodyPr/>
          <a:lstStyle/>
          <a:p>
            <a:fld id="{58CD6806-1967-4058-B345-02E9DEDBF24F}" type="slidenum">
              <a:rPr lang="en-US" smtClean="0"/>
              <a:t>15</a:t>
            </a:fld>
            <a:endParaRPr lang="en-US"/>
          </a:p>
        </p:txBody>
      </p:sp>
    </p:spTree>
    <p:extLst>
      <p:ext uri="{BB962C8B-B14F-4D97-AF65-F5344CB8AC3E}">
        <p14:creationId xmlns:p14="http://schemas.microsoft.com/office/powerpoint/2010/main" val="1852131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451685"/>
      </p:ext>
    </p:extLst>
  </p:cSld>
  <p:clrMapOvr>
    <a:masterClrMapping/>
  </p:clrMapOvr>
  <mc:AlternateContent xmlns:mc="http://schemas.openxmlformats.org/markup-compatibility/2006" xmlns:p14="http://schemas.microsoft.com/office/powerpoint/2010/main">
    <mc:Choice Requires="p14">
      <p:transition p14:dur="250" advTm="9897"/>
    </mc:Choice>
    <mc:Fallback xmlns="">
      <p:transition advTm="9897"/>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665596"/>
      </p:ext>
    </p:extLst>
  </p:cSld>
  <p:clrMap bg1="lt1" tx1="dk1" bg2="lt2" tx2="dk2" accent1="accent1" accent2="accent2" accent3="accent3" accent4="accent4" accent5="accent5" accent6="accent6" hlink="hlink" folHlink="folHlink"/>
  <p:sldLayoutIdLst>
    <p:sldLayoutId id="2147483673" r:id="rId1"/>
  </p:sldLayoutIdLst>
  <mc:AlternateContent xmlns:mc="http://schemas.openxmlformats.org/markup-compatibility/2006" xmlns:p14="http://schemas.microsoft.com/office/powerpoint/2010/main">
    <mc:Choice Requires="p14">
      <p:transition p14:dur="250" advTm="9897"/>
    </mc:Choice>
    <mc:Fallback xmlns="">
      <p:transition advTm="9897"/>
    </mc:Fallback>
  </mc:AlternateConten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7"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100.png"/><Relationship Id="rId7" Type="http://schemas.openxmlformats.org/officeDocument/2006/relationships/image" Target="../media/image9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0.png"/><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975360" y="853440"/>
            <a:ext cx="10241280" cy="2926080"/>
          </a:xfrm>
          <a:prstGeom prst="rect">
            <a:avLst/>
          </a:prstGeom>
          <a:noFill/>
          <a:ln/>
        </p:spPr>
        <p:txBody>
          <a:bodyPr wrap="square" rtlCol="0" anchor="ctr"/>
          <a:lstStyle/>
          <a:p>
            <a:pPr defTabSz="1219170">
              <a:lnSpc>
                <a:spcPct val="120000"/>
              </a:lnSpc>
            </a:pPr>
            <a:r>
              <a:rPr lang="en-US" sz="4000" b="1" dirty="0">
                <a:solidFill>
                  <a:srgbClr val="FFFFFF"/>
                </a:solidFill>
                <a:latin typeface="Georgia" pitchFamily="34" charset="0"/>
                <a:ea typeface="Georgia" pitchFamily="34" charset="-122"/>
                <a:cs typeface="Georgia" pitchFamily="34" charset="-120"/>
              </a:rPr>
              <a:t>The Transported Probability Density Function Method and its Relation to the</a:t>
            </a:r>
            <a:r>
              <a:rPr lang="en-US" sz="4000" dirty="0">
                <a:solidFill>
                  <a:prstClr val="black"/>
                </a:solidFill>
                <a:latin typeface="Calibri" panose="020F0502020204030204"/>
              </a:rPr>
              <a:t> </a:t>
            </a:r>
            <a:r>
              <a:rPr lang="en-US" sz="4000" b="1" dirty="0">
                <a:solidFill>
                  <a:srgbClr val="FFFFFF"/>
                </a:solidFill>
                <a:latin typeface="Georgia" pitchFamily="34" charset="0"/>
                <a:ea typeface="Georgia" pitchFamily="34" charset="-122"/>
                <a:cs typeface="Georgia" pitchFamily="34" charset="-120"/>
              </a:rPr>
              <a:t>Black-Scholes-Merton Equation</a:t>
            </a:r>
            <a:endParaRPr lang="en-US" sz="4000" dirty="0">
              <a:solidFill>
                <a:prstClr val="black"/>
              </a:solidFill>
              <a:latin typeface="Calibri" panose="020F0502020204030204"/>
            </a:endParaRPr>
          </a:p>
        </p:txBody>
      </p:sp>
      <p:sp>
        <p:nvSpPr>
          <p:cNvPr id="3" name="Text 1"/>
          <p:cNvSpPr/>
          <p:nvPr/>
        </p:nvSpPr>
        <p:spPr>
          <a:xfrm>
            <a:off x="975360" y="4267200"/>
            <a:ext cx="9753600" cy="548640"/>
          </a:xfrm>
          <a:prstGeom prst="rect">
            <a:avLst/>
          </a:prstGeom>
          <a:noFill/>
          <a:ln/>
        </p:spPr>
        <p:txBody>
          <a:bodyPr wrap="square" rtlCol="0" anchor="ctr"/>
          <a:lstStyle/>
          <a:p>
            <a:pPr defTabSz="1219170"/>
            <a:r>
              <a:rPr lang="en-US" sz="2400" b="1" dirty="0">
                <a:solidFill>
                  <a:srgbClr val="CADCFC"/>
                </a:solidFill>
                <a:latin typeface="Calibri" pitchFamily="34" charset="0"/>
                <a:ea typeface="Calibri" pitchFamily="34" charset="-122"/>
                <a:cs typeface="Calibri" pitchFamily="34" charset="-120"/>
              </a:rPr>
              <a:t>Christian DiPietrantonio</a:t>
            </a:r>
            <a:endParaRPr lang="en-US" sz="2400" dirty="0">
              <a:solidFill>
                <a:prstClr val="black"/>
              </a:solidFill>
              <a:latin typeface="Calibri" panose="020F0502020204030204"/>
            </a:endParaRPr>
          </a:p>
        </p:txBody>
      </p:sp>
      <p:sp>
        <p:nvSpPr>
          <p:cNvPr id="4" name="Text 2"/>
          <p:cNvSpPr/>
          <p:nvPr/>
        </p:nvSpPr>
        <p:spPr>
          <a:xfrm>
            <a:off x="975360" y="4998720"/>
            <a:ext cx="9753600" cy="853440"/>
          </a:xfrm>
          <a:prstGeom prst="rect">
            <a:avLst/>
          </a:prstGeom>
          <a:noFill/>
          <a:ln/>
        </p:spPr>
        <p:txBody>
          <a:bodyPr wrap="square" rtlCol="0" anchor="ctr"/>
          <a:lstStyle/>
          <a:p>
            <a:pPr defTabSz="1219170">
              <a:lnSpc>
                <a:spcPct val="140000"/>
              </a:lnSpc>
            </a:pPr>
            <a:r>
              <a:rPr lang="en-US" dirty="0">
                <a:solidFill>
                  <a:srgbClr val="6B7A99"/>
                </a:solidFill>
                <a:latin typeface="Calibri" pitchFamily="34" charset="0"/>
                <a:ea typeface="Calibri" pitchFamily="34" charset="-122"/>
                <a:cs typeface="Calibri" pitchFamily="34" charset="-120"/>
              </a:rPr>
              <a:t>ME 5311: Computational Methods to Viscous Flows</a:t>
            </a:r>
            <a:endParaRPr lang="en-US" dirty="0">
              <a:solidFill>
                <a:prstClr val="black"/>
              </a:solidFill>
              <a:latin typeface="Calibri" panose="020F0502020204030204"/>
            </a:endParaRPr>
          </a:p>
          <a:p>
            <a:pPr defTabSz="1219170">
              <a:lnSpc>
                <a:spcPct val="140000"/>
              </a:lnSpc>
            </a:pPr>
            <a:r>
              <a:rPr lang="en-US" dirty="0">
                <a:solidFill>
                  <a:srgbClr val="6B7A99"/>
                </a:solidFill>
                <a:latin typeface="Calibri" pitchFamily="34" charset="0"/>
                <a:ea typeface="Calibri" pitchFamily="34" charset="-122"/>
                <a:cs typeface="Calibri" pitchFamily="34" charset="-120"/>
              </a:rPr>
              <a:t>University of Connecticut  |  Spring 2026</a:t>
            </a:r>
            <a:endParaRPr lang="en-US" dirty="0">
              <a:solidFill>
                <a:prstClr val="black"/>
              </a:solidFill>
              <a:latin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p14:dur="10" advTm="8500"/>
    </mc:Choice>
    <mc:Fallback xmlns="">
      <p:transition advTm="85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D7603-B9D6-E92E-E525-3350D7A4E11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9EE993-E00A-04F1-BB61-C580E25DB226}"/>
              </a:ext>
            </a:extLst>
          </p:cNvPr>
          <p:cNvSpPr/>
          <p:nvPr/>
        </p:nvSpPr>
        <p:spPr>
          <a:xfrm>
            <a:off x="853440" y="365760"/>
            <a:ext cx="10485120" cy="731520"/>
          </a:xfrm>
          <a:prstGeom prst="rect">
            <a:avLst/>
          </a:prstGeom>
          <a:noFill/>
          <a:ln/>
        </p:spPr>
        <p:txBody>
          <a:bodyPr wrap="square" rtlCol="0" anchor="ctr"/>
          <a:lstStyle/>
          <a:p>
            <a:r>
              <a:rPr lang="en-US" sz="3733" b="1" dirty="0">
                <a:solidFill>
                  <a:srgbClr val="1E2761"/>
                </a:solidFill>
                <a:latin typeface="Georgia" pitchFamily="34" charset="0"/>
                <a:ea typeface="Georgia" pitchFamily="34" charset="-122"/>
                <a:cs typeface="Georgia" pitchFamily="34" charset="-120"/>
              </a:rPr>
              <a:t>The Connection</a:t>
            </a:r>
            <a:endParaRPr lang="en-US" sz="3733" dirty="0"/>
          </a:p>
        </p:txBody>
      </p:sp>
      <p:sp>
        <p:nvSpPr>
          <p:cNvPr id="3" name="Text 1">
            <a:extLst>
              <a:ext uri="{FF2B5EF4-FFF2-40B4-BE49-F238E27FC236}">
                <a16:creationId xmlns:a16="http://schemas.microsoft.com/office/drawing/2014/main" id="{2F445313-FA85-325E-6BDC-A66B3BF4CA7A}"/>
              </a:ext>
            </a:extLst>
          </p:cNvPr>
          <p:cNvSpPr/>
          <p:nvPr/>
        </p:nvSpPr>
        <p:spPr>
          <a:xfrm>
            <a:off x="853440" y="1051773"/>
            <a:ext cx="10485120" cy="792480"/>
          </a:xfrm>
          <a:prstGeom prst="rect">
            <a:avLst/>
          </a:prstGeom>
          <a:noFill/>
          <a:ln/>
        </p:spPr>
        <p:txBody>
          <a:bodyPr wrap="square" rtlCol="0" anchor="ctr"/>
          <a:lstStyle/>
          <a:p>
            <a:r>
              <a:rPr lang="en-US" dirty="0">
                <a:ea typeface="Calibri" pitchFamily="34" charset="-122"/>
                <a:cs typeface="Calibri" pitchFamily="34" charset="-120"/>
              </a:rPr>
              <a:t>Both equations are derived from SDEs of the same drift + diffusion form.</a:t>
            </a:r>
            <a:endParaRPr lang="en-US" dirty="0"/>
          </a:p>
        </p:txBody>
      </p:sp>
      <mc:AlternateContent xmlns:mc="http://schemas.openxmlformats.org/markup-compatibility/2006" xmlns:a14="http://schemas.microsoft.com/office/drawing/2010/main">
        <mc:Choice Requires="a14">
          <p:sp>
            <p:nvSpPr>
              <p:cNvPr id="6" name="Shape 2">
                <a:extLst>
                  <a:ext uri="{FF2B5EF4-FFF2-40B4-BE49-F238E27FC236}">
                    <a16:creationId xmlns:a16="http://schemas.microsoft.com/office/drawing/2014/main" id="{932C1CA7-D122-03F2-C972-552AC79955A7}"/>
                  </a:ext>
                </a:extLst>
              </p:cNvPr>
              <p:cNvSpPr/>
              <p:nvPr/>
            </p:nvSpPr>
            <p:spPr>
              <a:xfrm>
                <a:off x="280947" y="3003587"/>
                <a:ext cx="5658678" cy="983113"/>
              </a:xfrm>
              <a:prstGeom prst="rect">
                <a:avLst/>
              </a:prstGeom>
              <a:solidFill>
                <a:srgbClr val="F0F2F7"/>
              </a:solidFill>
              <a:ln/>
            </p:spPr>
            <p:txBody>
              <a:bodyPr/>
              <a:lstStyle/>
              <a:p>
                <a:pPr algn="ctr"/>
                <a:r>
                  <a:rPr lang="en-US" sz="2400" b="1" dirty="0"/>
                  <a:t>Stock Price SDE</a:t>
                </a:r>
              </a:p>
              <a:p>
                <a:pPr algn="ctr"/>
                <a14:m>
                  <m:oMathPara xmlns:m="http://schemas.openxmlformats.org/officeDocument/2006/math">
                    <m:oMathParaPr>
                      <m:jc m:val="centerGroup"/>
                    </m:oMathParaPr>
                    <m:oMath xmlns:m="http://schemas.openxmlformats.org/officeDocument/2006/math">
                      <m:r>
                        <m:rPr>
                          <m:sty m:val="p"/>
                        </m:rPr>
                        <a:rPr lang="en-US" sz="2000" b="1" i="1" smtClean="0">
                          <a:latin typeface="Cambria Math" panose="02040503050406030204" pitchFamily="18" charset="0"/>
                        </a:rPr>
                        <m:t>dS</m:t>
                      </m:r>
                      <m:r>
                        <a:rPr lang="en-US" sz="2000" b="1" i="1" smtClean="0">
                          <a:latin typeface="Cambria Math" panose="02040503050406030204" pitchFamily="18" charset="0"/>
                        </a:rPr>
                        <m:t> = </m:t>
                      </m:r>
                      <m:r>
                        <m:rPr>
                          <m:sty m:val="p"/>
                        </m:rPr>
                        <a:rPr lang="en-US" sz="2000" b="1" i="1" smtClean="0">
                          <a:latin typeface="Cambria Math" panose="02040503050406030204" pitchFamily="18" charset="0"/>
                        </a:rPr>
                        <m:t>rSdt</m:t>
                      </m:r>
                      <m:r>
                        <a:rPr lang="en-US" sz="2000" b="1" i="1" smtClean="0">
                          <a:latin typeface="Cambria Math" panose="02040503050406030204" pitchFamily="18" charset="0"/>
                        </a:rPr>
                        <m:t> + </m:t>
                      </m:r>
                      <m:r>
                        <m:rPr>
                          <m:sty m:val="p"/>
                        </m:rPr>
                        <a:rPr lang="en-US" sz="2000" b="1" i="1" smtClean="0">
                          <a:latin typeface="Cambria Math" panose="02040503050406030204" pitchFamily="18" charset="0"/>
                        </a:rPr>
                        <m:t>σSdW</m:t>
                      </m:r>
                    </m:oMath>
                  </m:oMathPara>
                </a14:m>
                <a:endParaRPr lang="en-US" sz="2000" b="1" dirty="0"/>
              </a:p>
            </p:txBody>
          </p:sp>
        </mc:Choice>
        <mc:Fallback xmlns="">
          <p:sp>
            <p:nvSpPr>
              <p:cNvPr id="6" name="Shape 2">
                <a:extLst>
                  <a:ext uri="{FF2B5EF4-FFF2-40B4-BE49-F238E27FC236}">
                    <a16:creationId xmlns:a16="http://schemas.microsoft.com/office/drawing/2014/main" id="{932C1CA7-D122-03F2-C972-552AC79955A7}"/>
                  </a:ext>
                </a:extLst>
              </p:cNvPr>
              <p:cNvSpPr>
                <a:spLocks noRot="1" noChangeAspect="1" noMove="1" noResize="1" noEditPoints="1" noAdjustHandles="1" noChangeArrowheads="1" noChangeShapeType="1" noTextEdit="1"/>
              </p:cNvSpPr>
              <p:nvPr/>
            </p:nvSpPr>
            <p:spPr>
              <a:xfrm>
                <a:off x="280947" y="3003587"/>
                <a:ext cx="5658678" cy="983113"/>
              </a:xfrm>
              <a:prstGeom prst="rect">
                <a:avLst/>
              </a:prstGeom>
              <a:blipFill>
                <a:blip r:embed="rId3"/>
                <a:stretch>
                  <a:fillRect t="-4969"/>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hape 4">
                <a:extLst>
                  <a:ext uri="{FF2B5EF4-FFF2-40B4-BE49-F238E27FC236}">
                    <a16:creationId xmlns:a16="http://schemas.microsoft.com/office/drawing/2014/main" id="{343609A9-F569-FBB6-A9F1-08532A8CE3AB}"/>
                  </a:ext>
                </a:extLst>
              </p:cNvPr>
              <p:cNvSpPr/>
              <p:nvPr/>
            </p:nvSpPr>
            <p:spPr>
              <a:xfrm>
                <a:off x="6252376" y="3003587"/>
                <a:ext cx="5658678" cy="983113"/>
              </a:xfrm>
              <a:prstGeom prst="rect">
                <a:avLst/>
              </a:prstGeom>
              <a:solidFill>
                <a:srgbClr val="F0F2F7"/>
              </a:solidFill>
              <a:ln/>
            </p:spPr>
            <p:txBody>
              <a:bodyPr/>
              <a:lstStyle/>
              <a:p>
                <a:pPr algn="ctr"/>
                <a:r>
                  <a:rPr lang="en-US" sz="2400" b="1" dirty="0"/>
                  <a:t>Langevin SDE</a:t>
                </a:r>
              </a:p>
              <a:p>
                <a:pPr algn="ctr"/>
                <a14:m>
                  <m:oMathPara xmlns:m="http://schemas.openxmlformats.org/officeDocument/2006/math">
                    <m:oMathParaPr>
                      <m:jc m:val="centerGroup"/>
                    </m:oMathParaPr>
                    <m:oMath xmlns:m="http://schemas.openxmlformats.org/officeDocument/2006/math">
                      <m:r>
                        <m:rPr>
                          <m:sty m:val="p"/>
                        </m:rPr>
                        <a:rPr lang="en-US" i="1">
                          <a:latin typeface="Cambria Math" panose="02040503050406030204" pitchFamily="18" charset="0"/>
                        </a:rPr>
                        <m:t>d</m:t>
                      </m:r>
                      <m:sSup>
                        <m:sSupPr>
                          <m:ctrlPr>
                            <a:rPr lang="en-US" i="1">
                              <a:latin typeface="Cambria Math" panose="02040503050406030204" pitchFamily="18" charset="0"/>
                            </a:rPr>
                          </m:ctrlPr>
                        </m:sSupPr>
                        <m:e>
                          <m:r>
                            <a:rPr lang="en-US" b="1" i="1">
                              <a:latin typeface="Cambria Math" panose="02040503050406030204" pitchFamily="18" charset="0"/>
                            </a:rPr>
                            <m:t>𝑼</m:t>
                          </m:r>
                        </m:e>
                        <m:sup>
                          <m:r>
                            <a:rPr lang="en-US" i="1">
                              <a:latin typeface="Cambria Math" panose="02040503050406030204" pitchFamily="18" charset="0"/>
                            </a:rPr>
                            <m:t>∗</m:t>
                          </m:r>
                        </m:sup>
                      </m:sSup>
                      <m:r>
                        <a:rPr lang="en-US" b="1" i="1">
                          <a:latin typeface="Cambria Math" panose="02040503050406030204" pitchFamily="18" charset="0"/>
                        </a:rPr>
                        <m:t>(</m:t>
                      </m:r>
                      <m:r>
                        <m:rPr>
                          <m:sty m:val="p"/>
                        </m:rPr>
                        <a:rPr lang="en-US" b="1" i="1">
                          <a:latin typeface="Cambria Math" panose="02040503050406030204" pitchFamily="18" charset="0"/>
                        </a:rPr>
                        <m:t>t</m:t>
                      </m:r>
                      <m:r>
                        <a:rPr lang="en-US" b="1" i="1">
                          <a:latin typeface="Cambria Math" panose="02040503050406030204" pitchFamily="18" charset="0"/>
                        </a:rPr>
                        <m:t>) = </m:t>
                      </m:r>
                      <m:r>
                        <a:rPr lang="en-US" b="1" i="1">
                          <a:latin typeface="Cambria Math" panose="02040503050406030204" pitchFamily="18" charset="0"/>
                        </a:rPr>
                        <m:t>𝒂</m:t>
                      </m:r>
                      <m:r>
                        <a:rPr lang="en-US" b="1"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𝑼</m:t>
                          </m:r>
                        </m:e>
                        <m:sup>
                          <m:r>
                            <a:rPr lang="en-US" b="1" i="1">
                              <a:latin typeface="Cambria Math" panose="02040503050406030204" pitchFamily="18" charset="0"/>
                            </a:rPr>
                            <m:t>∗</m:t>
                          </m:r>
                        </m:sup>
                      </m:sSup>
                      <m:r>
                        <a:rPr lang="en-US">
                          <a:latin typeface="Cambria Math" panose="02040503050406030204" pitchFamily="18" charset="0"/>
                        </a:rPr>
                        <m:t>(</m:t>
                      </m:r>
                      <m:r>
                        <m:rPr>
                          <m:sty m:val="p"/>
                        </m:rPr>
                        <a:rPr lang="en-US">
                          <a:latin typeface="Cambria Math" panose="02040503050406030204" pitchFamily="18" charset="0"/>
                        </a:rPr>
                        <m:t>t</m:t>
                      </m:r>
                      <m:r>
                        <a:rPr lang="en-US">
                          <a:latin typeface="Cambria Math" panose="02040503050406030204" pitchFamily="18" charset="0"/>
                        </a:rPr>
                        <m:t>), </m:t>
                      </m:r>
                      <m:sSup>
                        <m:sSupPr>
                          <m:ctrlPr>
                            <a:rPr lang="en-US" i="1">
                              <a:latin typeface="Cambria Math" panose="02040503050406030204" pitchFamily="18" charset="0"/>
                            </a:rPr>
                          </m:ctrlPr>
                        </m:sSupPr>
                        <m:e>
                          <m:r>
                            <a:rPr lang="en-US" b="1" i="1">
                              <a:latin typeface="Cambria Math" panose="02040503050406030204" pitchFamily="18" charset="0"/>
                            </a:rPr>
                            <m:t>𝑿</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i="1">
                          <a:latin typeface="Cambria Math" panose="02040503050406030204" pitchFamily="18" charset="0"/>
                        </a:rPr>
                        <m:t>t</m:t>
                      </m:r>
                      <m:r>
                        <a:rPr lang="en-US" i="1">
                          <a:latin typeface="Cambria Math" panose="02040503050406030204" pitchFamily="18" charset="0"/>
                        </a:rPr>
                        <m:t>), </m:t>
                      </m:r>
                      <m:r>
                        <m:rPr>
                          <m:sty m:val="p"/>
                        </m:rPr>
                        <a:rPr lang="en-US" i="1">
                          <a:latin typeface="Cambria Math" panose="02040503050406030204" pitchFamily="18" charset="0"/>
                        </a:rPr>
                        <m:t>t</m:t>
                      </m:r>
                      <m:r>
                        <a:rPr lang="en-US" i="1">
                          <a:latin typeface="Cambria Math" panose="02040503050406030204" pitchFamily="18" charset="0"/>
                        </a:rPr>
                        <m:t>)</m:t>
                      </m:r>
                      <m:r>
                        <m:rPr>
                          <m:sty m:val="p"/>
                        </m:rPr>
                        <a:rPr lang="en-US" i="1">
                          <a:latin typeface="Cambria Math" panose="02040503050406030204" pitchFamily="18" charset="0"/>
                        </a:rPr>
                        <m:t>dt</m:t>
                      </m:r>
                      <m:r>
                        <a:rPr lang="en-US" i="1">
                          <a:latin typeface="Cambria Math" panose="02040503050406030204" pitchFamily="18" charset="0"/>
                        </a:rPr>
                        <m:t> + </m:t>
                      </m:r>
                      <m:r>
                        <m:rPr>
                          <m:sty m:val="p"/>
                        </m:rPr>
                        <a:rPr lang="en-US" i="1">
                          <a:latin typeface="Cambria Math" panose="02040503050406030204" pitchFamily="18" charset="0"/>
                        </a:rPr>
                        <m:t>b</m:t>
                      </m:r>
                      <m:r>
                        <a:rPr lang="en-US" i="1">
                          <a:latin typeface="Cambria Math" panose="02040503050406030204" pitchFamily="18" charset="0"/>
                        </a:rPr>
                        <m:t>(</m:t>
                      </m:r>
                      <m:sSup>
                        <m:sSupPr>
                          <m:ctrlPr>
                            <a:rPr lang="en-US" i="1">
                              <a:latin typeface="Cambria Math" panose="02040503050406030204" pitchFamily="18" charset="0"/>
                            </a:rPr>
                          </m:ctrlPr>
                        </m:sSupPr>
                        <m:e>
                          <m:r>
                            <a:rPr lang="en-US" b="1" i="1">
                              <a:latin typeface="Cambria Math" panose="02040503050406030204" pitchFamily="18" charset="0"/>
                            </a:rPr>
                            <m:t>𝑿</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i="1">
                          <a:latin typeface="Cambria Math" panose="02040503050406030204" pitchFamily="18" charset="0"/>
                        </a:rPr>
                        <m:t>t</m:t>
                      </m:r>
                      <m:r>
                        <a:rPr lang="en-US" i="1">
                          <a:latin typeface="Cambria Math" panose="02040503050406030204" pitchFamily="18" charset="0"/>
                        </a:rPr>
                        <m:t>), </m:t>
                      </m:r>
                      <m:r>
                        <m:rPr>
                          <m:sty m:val="p"/>
                        </m:rPr>
                        <a:rPr lang="en-US" i="1">
                          <a:latin typeface="Cambria Math" panose="02040503050406030204" pitchFamily="18" charset="0"/>
                        </a:rPr>
                        <m:t>t</m:t>
                      </m:r>
                      <m:r>
                        <a:rPr lang="en-US" i="1">
                          <a:latin typeface="Cambria Math" panose="02040503050406030204" pitchFamily="18" charset="0"/>
                        </a:rPr>
                        <m:t>)</m:t>
                      </m:r>
                      <m:r>
                        <m:rPr>
                          <m:sty m:val="p"/>
                        </m:rPr>
                        <a:rPr lang="en-US" i="1">
                          <a:latin typeface="Cambria Math" panose="02040503050406030204" pitchFamily="18" charset="0"/>
                        </a:rPr>
                        <m:t>d</m:t>
                      </m:r>
                      <m:r>
                        <a:rPr lang="en-US" b="1" i="1">
                          <a:latin typeface="Cambria Math" panose="02040503050406030204" pitchFamily="18" charset="0"/>
                        </a:rPr>
                        <m:t>𝑾</m:t>
                      </m:r>
                    </m:oMath>
                  </m:oMathPara>
                </a14:m>
                <a:endParaRPr lang="en-US" dirty="0"/>
              </a:p>
            </p:txBody>
          </p:sp>
        </mc:Choice>
        <mc:Fallback xmlns="">
          <p:sp>
            <p:nvSpPr>
              <p:cNvPr id="7" name="Shape 4">
                <a:extLst>
                  <a:ext uri="{FF2B5EF4-FFF2-40B4-BE49-F238E27FC236}">
                    <a16:creationId xmlns:a16="http://schemas.microsoft.com/office/drawing/2014/main" id="{343609A9-F569-FBB6-A9F1-08532A8CE3AB}"/>
                  </a:ext>
                </a:extLst>
              </p:cNvPr>
              <p:cNvSpPr>
                <a:spLocks noRot="1" noChangeAspect="1" noMove="1" noResize="1" noEditPoints="1" noAdjustHandles="1" noChangeArrowheads="1" noChangeShapeType="1" noTextEdit="1"/>
              </p:cNvSpPr>
              <p:nvPr/>
            </p:nvSpPr>
            <p:spPr>
              <a:xfrm>
                <a:off x="6252376" y="3003587"/>
                <a:ext cx="5658678" cy="983113"/>
              </a:xfrm>
              <a:prstGeom prst="rect">
                <a:avLst/>
              </a:prstGeom>
              <a:blipFill>
                <a:blip r:embed="rId4"/>
                <a:stretch>
                  <a:fillRect t="-4969"/>
                </a:stretch>
              </a:blipFill>
              <a:ln/>
            </p:spPr>
            <p:txBody>
              <a:bodyPr/>
              <a:lstStyle/>
              <a:p>
                <a:r>
                  <a:rPr lang="en-US">
                    <a:noFill/>
                  </a:rPr>
                  <a:t> </a:t>
                </a:r>
              </a:p>
            </p:txBody>
          </p:sp>
        </mc:Fallback>
      </mc:AlternateContent>
      <p:graphicFrame>
        <p:nvGraphicFramePr>
          <p:cNvPr id="11" name="Table 0">
            <a:extLst>
              <a:ext uri="{FF2B5EF4-FFF2-40B4-BE49-F238E27FC236}">
                <a16:creationId xmlns:a16="http://schemas.microsoft.com/office/drawing/2014/main" id="{37BB78BD-CC3D-F960-B7CD-7B268AD53AFF}"/>
              </a:ext>
            </a:extLst>
          </p:cNvPr>
          <p:cNvGraphicFramePr>
            <a:graphicFrameLocks noGrp="1"/>
          </p:cNvGraphicFramePr>
          <p:nvPr>
            <p:extLst>
              <p:ext uri="{D42A27DB-BD31-4B8C-83A1-F6EECF244321}">
                <p14:modId xmlns:p14="http://schemas.microsoft.com/office/powerpoint/2010/main" val="883024609"/>
              </p:ext>
            </p:extLst>
          </p:nvPr>
        </p:nvGraphicFramePr>
        <p:xfrm>
          <a:off x="1463040" y="4177534"/>
          <a:ext cx="9265920" cy="2194560"/>
        </p:xfrm>
        <a:graphic>
          <a:graphicData uri="http://schemas.openxmlformats.org/drawingml/2006/table">
            <a:tbl>
              <a:tblPr/>
              <a:tblGrid>
                <a:gridCol w="463296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tblGrid>
              <a:tr h="345440">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Finance (GBM / BSM)</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5FA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CFD (Langevin / Fokker-Planck)</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5FA1"/>
                    </a:solidFill>
                  </a:tcPr>
                </a:tc>
                <a:extLst>
                  <a:ext uri="{0D108BD9-81ED-4DB2-BD59-A6C34878D82A}">
                    <a16:rowId xmlns:a16="http://schemas.microsoft.com/office/drawing/2014/main" val="10000"/>
                  </a:ext>
                </a:extLst>
              </a:tr>
              <a:tr h="345440">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Stock price,  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Particle velocity,  U*</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45440">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Risk-free rate,  r</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Drift coefficient,  a</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45440">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Volatility,  σ</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Diffusion coefficient,  b</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45440">
                <a:tc>
                  <a:txBody>
                    <a:bodyPr/>
                    <a:lstStyle/>
                    <a:p>
                      <a:pPr marL="0" indent="0" algn="ctr">
                        <a:buNone/>
                      </a:pPr>
                      <a:r>
                        <a:rPr lang="en-US" sz="1600" dirty="0">
                          <a:latin typeface="Calibri" charset="0"/>
                          <a:ea typeface="Calibri" charset="0"/>
                          <a:cs typeface="Calibri" charset="0"/>
                        </a:rPr>
                        <a:t>Wiener process, </a:t>
                      </a:r>
                      <a:r>
                        <a:rPr lang="en-US" sz="1600" dirty="0" err="1">
                          <a:latin typeface="Calibri" charset="0"/>
                          <a:ea typeface="Calibri" charset="0"/>
                          <a:cs typeface="Calibri" charset="0"/>
                        </a:rPr>
                        <a:t>dW</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600" dirty="0">
                          <a:latin typeface="Calibri" charset="0"/>
                          <a:ea typeface="Calibri" charset="0"/>
                          <a:cs typeface="Calibri" charset="0"/>
                        </a:rPr>
                        <a:t>Vector-valued Wiener process, </a:t>
                      </a:r>
                      <a:r>
                        <a:rPr lang="en-US" sz="1600" dirty="0" err="1">
                          <a:latin typeface="Calibri" charset="0"/>
                          <a:ea typeface="Calibri" charset="0"/>
                          <a:cs typeface="Calibri" charset="0"/>
                        </a:rPr>
                        <a:t>d</a:t>
                      </a:r>
                      <a:r>
                        <a:rPr lang="en-US" sz="1600" b="1" dirty="0" err="1">
                          <a:latin typeface="Calibri" charset="0"/>
                          <a:ea typeface="Calibri" charset="0"/>
                          <a:cs typeface="Calibri" charset="0"/>
                        </a:rPr>
                        <a:t>W</a:t>
                      </a:r>
                      <a:r>
                        <a:rPr lang="en-US" sz="1600" dirty="0">
                          <a:latin typeface="Calibri" charset="0"/>
                          <a:ea typeface="Calibri" charset="0"/>
                          <a:cs typeface="Calibri" charset="0"/>
                        </a:rPr>
                        <a:t> </a:t>
                      </a: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236625790"/>
                  </a:ext>
                </a:extLst>
              </a:tr>
              <a:tr h="345440">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Monte Carlo simulation</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600" dirty="0">
                          <a:solidFill>
                            <a:srgbClr val="2D3748"/>
                          </a:solidFill>
                          <a:latin typeface="Calibri" pitchFamily="34" charset="0"/>
                          <a:ea typeface="Calibri" pitchFamily="34" charset="-122"/>
                          <a:cs typeface="Calibri" pitchFamily="34" charset="-120"/>
                        </a:rPr>
                        <a:t>Lagrangian particle method</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4" name="Shape 2">
                <a:extLst>
                  <a:ext uri="{FF2B5EF4-FFF2-40B4-BE49-F238E27FC236}">
                    <a16:creationId xmlns:a16="http://schemas.microsoft.com/office/drawing/2014/main" id="{47E53259-43FE-C33F-73E0-156054E03653}"/>
                  </a:ext>
                </a:extLst>
              </p:cNvPr>
              <p:cNvSpPr/>
              <p:nvPr/>
            </p:nvSpPr>
            <p:spPr>
              <a:xfrm>
                <a:off x="280947" y="1652745"/>
                <a:ext cx="5658678" cy="1218556"/>
              </a:xfrm>
              <a:prstGeom prst="rect">
                <a:avLst/>
              </a:prstGeom>
              <a:solidFill>
                <a:srgbClr val="F0F2F7"/>
              </a:solidFill>
              <a:ln/>
            </p:spPr>
            <p:txBody>
              <a:bodyPr/>
              <a:lstStyle/>
              <a:p>
                <a:pPr algn="ctr"/>
                <a:r>
                  <a:rPr lang="en-US" sz="2400" b="1" dirty="0"/>
                  <a:t>BSM PDE</a:t>
                </a:r>
              </a:p>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𝑉</m:t>
                          </m:r>
                        </m:num>
                        <m:den>
                          <m:r>
                            <a:rPr lang="en-US" sz="2000" i="1">
                              <a:latin typeface="Cambria Math" panose="02040503050406030204" pitchFamily="18" charset="0"/>
                            </a:rPr>
                            <m:t>𝜕</m:t>
                          </m:r>
                          <m:r>
                            <a:rPr lang="en-US" sz="2000" i="1">
                              <a:latin typeface="Cambria Math" panose="02040503050406030204" pitchFamily="18" charset="0"/>
                            </a:rPr>
                            <m:t>𝑡</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𝑆</m:t>
                          </m:r>
                        </m:e>
                        <m:sup>
                          <m:r>
                            <a:rPr lang="en-US" sz="2000" i="1">
                              <a:latin typeface="Cambria Math" panose="02040503050406030204" pitchFamily="18" charset="0"/>
                            </a:rPr>
                            <m:t>2</m:t>
                          </m:r>
                        </m:sup>
                      </m:sSup>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2</m:t>
                              </m:r>
                            </m:sup>
                          </m:sSup>
                          <m:r>
                            <a:rPr lang="en-US" sz="2000" i="1">
                              <a:latin typeface="Cambria Math" panose="02040503050406030204" pitchFamily="18" charset="0"/>
                            </a:rPr>
                            <m:t>𝑉</m:t>
                          </m:r>
                        </m:num>
                        <m:den>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𝑆</m:t>
                              </m:r>
                            </m:e>
                            <m:sup>
                              <m:r>
                                <a:rPr lang="en-US" sz="2000" i="1">
                                  <a:latin typeface="Cambria Math" panose="02040503050406030204" pitchFamily="18" charset="0"/>
                                </a:rPr>
                                <m:t>2</m:t>
                              </m:r>
                            </m:sup>
                          </m:sSup>
                        </m:den>
                      </m:f>
                      <m:r>
                        <a:rPr lang="en-US" sz="2000" i="1">
                          <a:latin typeface="Cambria Math" panose="02040503050406030204" pitchFamily="18" charset="0"/>
                        </a:rPr>
                        <m:t>+</m:t>
                      </m:r>
                      <m:r>
                        <a:rPr lang="en-US" sz="2000" i="1">
                          <a:latin typeface="Cambria Math" panose="02040503050406030204" pitchFamily="18" charset="0"/>
                        </a:rPr>
                        <m:t>𝑟𝑆</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𝑉</m:t>
                          </m:r>
                        </m:num>
                        <m:den>
                          <m:r>
                            <a:rPr lang="en-US" sz="2000" i="1">
                              <a:latin typeface="Cambria Math" panose="02040503050406030204" pitchFamily="18" charset="0"/>
                            </a:rPr>
                            <m:t>𝜕</m:t>
                          </m:r>
                          <m:r>
                            <a:rPr lang="en-US" sz="2000" i="1">
                              <a:latin typeface="Cambria Math" panose="02040503050406030204" pitchFamily="18" charset="0"/>
                            </a:rPr>
                            <m:t>𝑆</m:t>
                          </m:r>
                        </m:den>
                      </m:f>
                      <m:r>
                        <a:rPr lang="en-US" sz="2000" i="1">
                          <a:latin typeface="Cambria Math" panose="02040503050406030204" pitchFamily="18" charset="0"/>
                        </a:rPr>
                        <m:t>−</m:t>
                      </m:r>
                      <m:r>
                        <a:rPr lang="en-US" sz="2000" i="1">
                          <a:latin typeface="Cambria Math" panose="02040503050406030204" pitchFamily="18" charset="0"/>
                        </a:rPr>
                        <m:t>𝑟𝑉</m:t>
                      </m:r>
                      <m:r>
                        <a:rPr lang="en-US" sz="2000" i="1">
                          <a:latin typeface="Cambria Math" panose="02040503050406030204" pitchFamily="18" charset="0"/>
                        </a:rPr>
                        <m:t>=0</m:t>
                      </m:r>
                    </m:oMath>
                  </m:oMathPara>
                </a14:m>
                <a:endParaRPr lang="en-US" sz="2000" dirty="0"/>
              </a:p>
            </p:txBody>
          </p:sp>
        </mc:Choice>
        <mc:Fallback xmlns="">
          <p:sp>
            <p:nvSpPr>
              <p:cNvPr id="4" name="Shape 2">
                <a:extLst>
                  <a:ext uri="{FF2B5EF4-FFF2-40B4-BE49-F238E27FC236}">
                    <a16:creationId xmlns:a16="http://schemas.microsoft.com/office/drawing/2014/main" id="{47E53259-43FE-C33F-73E0-156054E03653}"/>
                  </a:ext>
                </a:extLst>
              </p:cNvPr>
              <p:cNvSpPr>
                <a:spLocks noRot="1" noChangeAspect="1" noMove="1" noResize="1" noEditPoints="1" noAdjustHandles="1" noChangeArrowheads="1" noChangeShapeType="1" noTextEdit="1"/>
              </p:cNvSpPr>
              <p:nvPr/>
            </p:nvSpPr>
            <p:spPr>
              <a:xfrm>
                <a:off x="280947" y="1652745"/>
                <a:ext cx="5658678" cy="1218556"/>
              </a:xfrm>
              <a:prstGeom prst="rect">
                <a:avLst/>
              </a:prstGeom>
              <a:blipFill>
                <a:blip r:embed="rId5"/>
                <a:stretch>
                  <a:fillRect t="-4000"/>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Shape 4">
                <a:extLst>
                  <a:ext uri="{FF2B5EF4-FFF2-40B4-BE49-F238E27FC236}">
                    <a16:creationId xmlns:a16="http://schemas.microsoft.com/office/drawing/2014/main" id="{35BFE2AA-3B2F-2B2E-DA1D-2A51A260D6E3}"/>
                  </a:ext>
                </a:extLst>
              </p:cNvPr>
              <p:cNvSpPr/>
              <p:nvPr/>
            </p:nvSpPr>
            <p:spPr>
              <a:xfrm>
                <a:off x="6252376" y="1652745"/>
                <a:ext cx="5658678" cy="1218556"/>
              </a:xfrm>
              <a:prstGeom prst="rect">
                <a:avLst/>
              </a:prstGeom>
              <a:solidFill>
                <a:srgbClr val="F0F2F7"/>
              </a:solidFill>
              <a:ln/>
            </p:spPr>
            <p:txBody>
              <a:bodyPr/>
              <a:lstStyle/>
              <a:p>
                <a:pPr algn="ctr"/>
                <a:r>
                  <a:rPr lang="en-US" sz="2400" b="1" dirty="0"/>
                  <a:t>PDF Transport Equation</a:t>
                </a:r>
              </a:p>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sSup>
                            <m:sSupPr>
                              <m:ctrlPr>
                                <a:rPr lang="en-US" i="1">
                                  <a:latin typeface="Cambria Math" panose="02040503050406030204" pitchFamily="18" charset="0"/>
                                </a:rPr>
                              </m:ctrlPr>
                            </m:sSupPr>
                            <m:e>
                              <m:r>
                                <m:rPr>
                                  <m:sty m:val="p"/>
                                </m:rPr>
                                <a:rPr lang="en-US" i="1">
                                  <a:latin typeface="Cambria Math" panose="02040503050406030204" pitchFamily="18" charset="0"/>
                                </a:rPr>
                                <m:t>f</m:t>
                              </m:r>
                            </m:e>
                            <m:sup>
                              <m:r>
                                <a:rPr lang="en-US" i="1">
                                  <a:latin typeface="Cambria Math" panose="02040503050406030204" pitchFamily="18" charset="0"/>
                                </a:rPr>
                                <m:t>∗</m:t>
                              </m:r>
                            </m:sup>
                          </m:sSup>
                        </m:num>
                        <m:den>
                          <m:r>
                            <a:rPr lang="en-US" i="1">
                              <a:latin typeface="Cambria Math" panose="02040503050406030204" pitchFamily="18" charset="0"/>
                            </a:rPr>
                            <m:t>𝜕</m:t>
                          </m:r>
                          <m:r>
                            <m:rPr>
                              <m:sty m:val="p"/>
                            </m:rPr>
                            <a:rPr lang="en-US" i="1">
                              <a:latin typeface="Cambria Math" panose="02040503050406030204" pitchFamily="18" charset="0"/>
                            </a:rPr>
                            <m:t>t</m:t>
                          </m:r>
                        </m:den>
                      </m:f>
                      <m:r>
                        <a:rPr lang="en-US" i="1">
                          <a:latin typeface="Cambria Math" panose="02040503050406030204" pitchFamily="18" charset="0"/>
                        </a:rPr>
                        <m:t> + </m:t>
                      </m:r>
                      <m:sSub>
                        <m:sSubPr>
                          <m:ctrlPr>
                            <a:rPr lang="en-US" i="1">
                              <a:latin typeface="Cambria Math" panose="02040503050406030204" pitchFamily="18" charset="0"/>
                            </a:rPr>
                          </m:ctrlPr>
                        </m:sSubPr>
                        <m:e>
                          <m:r>
                            <m:rPr>
                              <m:sty m:val="p"/>
                            </m:rPr>
                            <a:rPr lang="en-US" i="1">
                              <a:latin typeface="Cambria Math" panose="02040503050406030204" pitchFamily="18" charset="0"/>
                            </a:rPr>
                            <m:t>V</m:t>
                          </m:r>
                        </m:e>
                        <m:sub>
                          <m:r>
                            <m:rPr>
                              <m:sty m:val="p"/>
                            </m:rPr>
                            <a:rPr lang="en-US" i="1">
                              <a:latin typeface="Cambria Math" panose="02040503050406030204" pitchFamily="18" charset="0"/>
                            </a:rPr>
                            <m:t>i</m:t>
                          </m:r>
                        </m:sub>
                      </m:sSub>
                      <m:f>
                        <m:fPr>
                          <m:ctrlPr>
                            <a:rPr lang="en-US" i="1">
                              <a:latin typeface="Cambria Math" panose="02040503050406030204" pitchFamily="18" charset="0"/>
                            </a:rPr>
                          </m:ctrlPr>
                        </m:fPr>
                        <m:num>
                          <m:r>
                            <a:rPr lang="en-US" i="1">
                              <a:latin typeface="Cambria Math" panose="02040503050406030204" pitchFamily="18" charset="0"/>
                            </a:rPr>
                            <m:t>𝜕</m:t>
                          </m:r>
                          <m:sSup>
                            <m:sSupPr>
                              <m:ctrlPr>
                                <a:rPr lang="en-US" i="1">
                                  <a:latin typeface="Cambria Math" panose="02040503050406030204" pitchFamily="18" charset="0"/>
                                </a:rPr>
                              </m:ctrlPr>
                            </m:sSupPr>
                            <m:e>
                              <m:r>
                                <m:rPr>
                                  <m:sty m:val="p"/>
                                </m:rPr>
                                <a:rPr lang="en-US" i="1">
                                  <a:latin typeface="Cambria Math" panose="02040503050406030204" pitchFamily="18" charset="0"/>
                                </a:rPr>
                                <m:t>f</m:t>
                              </m:r>
                            </m:e>
                            <m:sup>
                              <m:r>
                                <a:rPr lang="en-US" i="1">
                                  <a:latin typeface="Cambria Math" panose="02040503050406030204" pitchFamily="18" charset="0"/>
                                </a:rPr>
                                <m:t>∗</m:t>
                              </m:r>
                            </m:sup>
                          </m:sSup>
                        </m:num>
                        <m:den>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x</m:t>
                              </m:r>
                            </m:e>
                            <m:sub>
                              <m:r>
                                <m:rPr>
                                  <m:sty m:val="p"/>
                                </m:rPr>
                                <a:rPr lang="en-US" i="1">
                                  <a:latin typeface="Cambria Math" panose="02040503050406030204" pitchFamily="18" charset="0"/>
                                </a:rPr>
                                <m:t>i</m:t>
                              </m:r>
                            </m:sub>
                          </m:sSub>
                        </m:den>
                      </m:f>
                      <m:r>
                        <a:rPr lang="en-US" i="1">
                          <a:latin typeface="Cambria Math" panose="02040503050406030204" pitchFamily="18" charset="0"/>
                        </a:rPr>
                        <m:t> = </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V</m:t>
                              </m:r>
                            </m:e>
                            <m:sub>
                              <m:r>
                                <m:rPr>
                                  <m:sty m:val="p"/>
                                </m:rPr>
                                <a:rPr lang="en-US" i="1">
                                  <a:latin typeface="Cambria Math" panose="02040503050406030204" pitchFamily="18" charset="0"/>
                                </a:rPr>
                                <m:t>i</m:t>
                              </m:r>
                            </m:sub>
                          </m:sSub>
                        </m:den>
                      </m:f>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m:rPr>
                                  <m:sty m:val="p"/>
                                </m:rPr>
                                <a:rPr lang="en-US" i="1">
                                  <a:latin typeface="Cambria Math" panose="02040503050406030204" pitchFamily="18" charset="0"/>
                                </a:rPr>
                                <m:t>f</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m:t>
                              </m:r>
                            </m:sub>
                          </m:sSub>
                          <m:r>
                            <a:rPr lang="en-US" i="1">
                              <a:latin typeface="Cambria Math" panose="02040503050406030204" pitchFamily="18" charset="0"/>
                            </a:rPr>
                            <m:t>(</m:t>
                          </m:r>
                          <m:r>
                            <a:rPr lang="en-US" b="1" i="1">
                              <a:latin typeface="Cambria Math" panose="02040503050406030204" pitchFamily="18" charset="0"/>
                            </a:rPr>
                            <m:t>𝑽</m:t>
                          </m:r>
                          <m:r>
                            <a:rPr lang="en-US" b="1" i="1">
                              <a:latin typeface="Cambria Math" panose="02040503050406030204" pitchFamily="18" charset="0"/>
                            </a:rPr>
                            <m:t>, </m:t>
                          </m:r>
                          <m:r>
                            <a:rPr lang="en-US" b="1" i="1">
                              <a:latin typeface="Cambria Math" panose="02040503050406030204" pitchFamily="18" charset="0"/>
                            </a:rPr>
                            <m:t>𝒙</m:t>
                          </m:r>
                          <m:r>
                            <a:rPr lang="en-US" b="1" i="1">
                              <a:latin typeface="Cambria Math" panose="02040503050406030204" pitchFamily="18" charset="0"/>
                            </a:rPr>
                            <m:t>, </m:t>
                          </m:r>
                          <m:r>
                            <m:rPr>
                              <m:sty m:val="p"/>
                            </m:rPr>
                            <a:rPr lang="en-US" b="1" i="1">
                              <a:latin typeface="Cambria Math" panose="02040503050406030204" pitchFamily="18" charset="0"/>
                            </a:rPr>
                            <m:t>t</m:t>
                          </m:r>
                          <m:r>
                            <a:rPr lang="en-US" b="1" i="1">
                              <a:latin typeface="Cambria Math" panose="02040503050406030204" pitchFamily="18" charset="0"/>
                            </a:rPr>
                            <m:t>)</m:t>
                          </m:r>
                        </m:e>
                      </m:d>
                      <m:r>
                        <a:rPr lang="en-US" i="1">
                          <a:latin typeface="Cambria Math" panose="02040503050406030204" pitchFamily="18" charset="0"/>
                        </a:rPr>
                        <m:t> + </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m:rPr>
                          <m:sty m:val="p"/>
                        </m:rPr>
                        <a:rPr lang="en-US" i="1">
                          <a:latin typeface="Cambria Math" panose="02040503050406030204" pitchFamily="18" charset="0"/>
                        </a:rPr>
                        <m:t>b</m:t>
                      </m:r>
                      <m:sSup>
                        <m:sSupPr>
                          <m:ctrlPr>
                            <a:rPr lang="en-US" i="1">
                              <a:latin typeface="Cambria Math" panose="02040503050406030204" pitchFamily="18" charset="0"/>
                            </a:rPr>
                          </m:ctrlPr>
                        </m:sSupPr>
                        <m:e>
                          <m:r>
                            <a:rPr lang="en-US"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 </m:t>
                          </m:r>
                          <m:r>
                            <m:rPr>
                              <m:sty m:val="p"/>
                            </m:rPr>
                            <a:rPr lang="en-US" b="1" i="1">
                              <a:latin typeface="Cambria Math" panose="02040503050406030204" pitchFamily="18" charset="0"/>
                            </a:rPr>
                            <m:t>t</m:t>
                          </m:r>
                          <m:r>
                            <a:rPr lang="en-US">
                              <a:latin typeface="Cambria Math" panose="02040503050406030204" pitchFamily="18" charset="0"/>
                            </a:rPr>
                            <m:t>)</m:t>
                          </m:r>
                        </m:e>
                        <m:sup>
                          <m:r>
                            <a:rPr lang="en-US" i="1">
                              <a:latin typeface="Cambria Math" panose="02040503050406030204" pitchFamily="18" charset="0"/>
                            </a:rPr>
                            <m:t>2</m:t>
                          </m:r>
                        </m:sup>
                      </m:sSup>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m:rPr>
                                  <m:sty m:val="p"/>
                                </m:rPr>
                                <a:rPr lang="en-US" i="1">
                                  <a:latin typeface="Cambria Math" panose="02040503050406030204" pitchFamily="18" charset="0"/>
                                </a:rPr>
                                <m:t>f</m:t>
                              </m:r>
                            </m:e>
                            <m:sup>
                              <m:r>
                                <a:rPr lang="en-US" i="1">
                                  <a:latin typeface="Cambria Math" panose="02040503050406030204" pitchFamily="18" charset="0"/>
                                </a:rPr>
                                <m:t>∗</m:t>
                              </m:r>
                            </m:sup>
                          </m:sSup>
                        </m:num>
                        <m:den>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V</m:t>
                              </m:r>
                            </m:e>
                            <m:sub>
                              <m:r>
                                <m:rPr>
                                  <m:sty m:val="p"/>
                                </m:rPr>
                                <a:rPr lang="en-US" i="1">
                                  <a:latin typeface="Cambria Math" panose="02040503050406030204" pitchFamily="18" charset="0"/>
                                </a:rPr>
                                <m:t>i</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V</m:t>
                              </m:r>
                            </m:e>
                            <m:sub>
                              <m:r>
                                <m:rPr>
                                  <m:sty m:val="p"/>
                                </m:rPr>
                                <a:rPr lang="en-US" i="1">
                                  <a:latin typeface="Cambria Math" panose="02040503050406030204" pitchFamily="18" charset="0"/>
                                </a:rPr>
                                <m:t>i</m:t>
                              </m:r>
                            </m:sub>
                          </m:sSub>
                        </m:den>
                      </m:f>
                    </m:oMath>
                  </m:oMathPara>
                </a14:m>
                <a:endParaRPr lang="en-US" b="1" dirty="0"/>
              </a:p>
            </p:txBody>
          </p:sp>
        </mc:Choice>
        <mc:Fallback xmlns="">
          <p:sp>
            <p:nvSpPr>
              <p:cNvPr id="5" name="Shape 4">
                <a:extLst>
                  <a:ext uri="{FF2B5EF4-FFF2-40B4-BE49-F238E27FC236}">
                    <a16:creationId xmlns:a16="http://schemas.microsoft.com/office/drawing/2014/main" id="{35BFE2AA-3B2F-2B2E-DA1D-2A51A260D6E3}"/>
                  </a:ext>
                </a:extLst>
              </p:cNvPr>
              <p:cNvSpPr>
                <a:spLocks noRot="1" noChangeAspect="1" noMove="1" noResize="1" noEditPoints="1" noAdjustHandles="1" noChangeArrowheads="1" noChangeShapeType="1" noTextEdit="1"/>
              </p:cNvSpPr>
              <p:nvPr/>
            </p:nvSpPr>
            <p:spPr>
              <a:xfrm>
                <a:off x="6252376" y="1652745"/>
                <a:ext cx="5658678" cy="1218556"/>
              </a:xfrm>
              <a:prstGeom prst="rect">
                <a:avLst/>
              </a:prstGeom>
              <a:blipFill>
                <a:blip r:embed="rId6"/>
                <a:stretch>
                  <a:fillRect t="-4000"/>
                </a:stretch>
              </a:blipFill>
              <a:ln/>
            </p:spPr>
            <p:txBody>
              <a:bodyPr/>
              <a:lstStyle/>
              <a:p>
                <a:r>
                  <a:rPr lang="en-US">
                    <a:noFill/>
                  </a:rPr>
                  <a:t> </a:t>
                </a:r>
              </a:p>
            </p:txBody>
          </p:sp>
        </mc:Fallback>
      </mc:AlternateContent>
    </p:spTree>
    <p:extLst>
      <p:ext uri="{BB962C8B-B14F-4D97-AF65-F5344CB8AC3E}">
        <p14:creationId xmlns:p14="http://schemas.microsoft.com/office/powerpoint/2010/main" val="1870122685"/>
      </p:ext>
    </p:extLst>
  </p:cSld>
  <p:clrMapOvr>
    <a:masterClrMapping/>
  </p:clrMapOvr>
  <mc:AlternateContent xmlns:mc="http://schemas.openxmlformats.org/markup-compatibility/2006" xmlns:p14="http://schemas.microsoft.com/office/powerpoint/2010/main">
    <mc:Choice Requires="p14">
      <p:transition p14:dur="10" advTm="54000"/>
    </mc:Choice>
    <mc:Fallback xmlns="">
      <p:transition advTm="54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CC7B-FF64-13BF-690A-F915233482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6BA52E-B7E0-958C-8890-06ACEBF44C70}"/>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Results: Option Pricing</a:t>
            </a:r>
            <a:endParaRPr lang="en-US" sz="4000" dirty="0"/>
          </a:p>
        </p:txBody>
      </p:sp>
      <p:pic>
        <p:nvPicPr>
          <p:cNvPr id="3" name="Picture 2">
            <a:extLst>
              <a:ext uri="{FF2B5EF4-FFF2-40B4-BE49-F238E27FC236}">
                <a16:creationId xmlns:a16="http://schemas.microsoft.com/office/drawing/2014/main" id="{99FFE247-86E4-3090-61CE-0DF582BB0DF1}"/>
              </a:ext>
            </a:extLst>
          </p:cNvPr>
          <p:cNvPicPr>
            <a:picLocks noChangeAspect="1"/>
          </p:cNvPicPr>
          <p:nvPr/>
        </p:nvPicPr>
        <p:blipFill>
          <a:blip r:embed="rId3"/>
          <a:stretch>
            <a:fillRect/>
          </a:stretch>
        </p:blipFill>
        <p:spPr>
          <a:xfrm>
            <a:off x="2215403" y="1076363"/>
            <a:ext cx="7761194" cy="5174129"/>
          </a:xfrm>
          <a:prstGeom prst="rect">
            <a:avLst/>
          </a:prstGeom>
        </p:spPr>
      </p:pic>
      <p:sp>
        <p:nvSpPr>
          <p:cNvPr id="4" name="Text 3">
            <a:extLst>
              <a:ext uri="{FF2B5EF4-FFF2-40B4-BE49-F238E27FC236}">
                <a16:creationId xmlns:a16="http://schemas.microsoft.com/office/drawing/2014/main" id="{75B4FBF5-34E9-CE47-12C5-4043C4DDFDC5}"/>
              </a:ext>
            </a:extLst>
          </p:cNvPr>
          <p:cNvSpPr/>
          <p:nvPr/>
        </p:nvSpPr>
        <p:spPr>
          <a:xfrm>
            <a:off x="853440" y="6192520"/>
            <a:ext cx="10485120" cy="426720"/>
          </a:xfrm>
          <a:prstGeom prst="rect">
            <a:avLst/>
          </a:prstGeom>
          <a:noFill/>
          <a:ln/>
        </p:spPr>
        <p:txBody>
          <a:bodyPr wrap="square" rtlCol="0" anchor="ctr"/>
          <a:lstStyle/>
          <a:p>
            <a:r>
              <a:rPr lang="en-US" sz="1600" dirty="0">
                <a:ea typeface="Calibri" pitchFamily="34" charset="-122"/>
                <a:cs typeface="Calibri" pitchFamily="34" charset="-120"/>
              </a:rPr>
              <a:t>Analytical (Black-Scholes), Finite Difference (Eulerian), and Monte Carlo (Lagrangian) solution methods produce identical option values.</a:t>
            </a:r>
            <a:endParaRPr lang="en-US" sz="1600" dirty="0"/>
          </a:p>
        </p:txBody>
      </p:sp>
    </p:spTree>
    <p:extLst>
      <p:ext uri="{BB962C8B-B14F-4D97-AF65-F5344CB8AC3E}">
        <p14:creationId xmlns:p14="http://schemas.microsoft.com/office/powerpoint/2010/main" val="3585321103"/>
      </p:ext>
    </p:extLst>
  </p:cSld>
  <p:clrMapOvr>
    <a:masterClrMapping/>
  </p:clrMapOvr>
  <mc:AlternateContent xmlns:mc="http://schemas.openxmlformats.org/markup-compatibility/2006" xmlns:p14="http://schemas.microsoft.com/office/powerpoint/2010/main">
    <mc:Choice Requires="p14">
      <p:transition p14:dur="10" advTm="57000"/>
    </mc:Choice>
    <mc:Fallback xmlns="">
      <p:transition advTm="57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BB3EB-5208-3082-E001-003A2B7AC8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19F125-48EB-1878-C4C8-B3768749ED59}"/>
              </a:ext>
            </a:extLst>
          </p:cNvPr>
          <p:cNvSpPr/>
          <p:nvPr/>
        </p:nvSpPr>
        <p:spPr>
          <a:xfrm>
            <a:off x="853440" y="365760"/>
            <a:ext cx="10485120" cy="731520"/>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E2761"/>
                </a:solidFill>
                <a:effectLst/>
                <a:uLnTx/>
                <a:uFillTx/>
                <a:latin typeface="Georgia" pitchFamily="34" charset="0"/>
                <a:ea typeface="Georgia" pitchFamily="34" charset="-122"/>
                <a:cs typeface="Georgia" pitchFamily="34" charset="-120"/>
              </a:rPr>
              <a:t>Results: Monte Carlo Visualization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DA48BA5-134A-9ED5-35AB-AD34924D8BD5}"/>
              </a:ext>
            </a:extLst>
          </p:cNvPr>
          <p:cNvPicPr>
            <a:picLocks noChangeAspect="1"/>
          </p:cNvPicPr>
          <p:nvPr/>
        </p:nvPicPr>
        <p:blipFill>
          <a:blip r:embed="rId3"/>
          <a:stretch>
            <a:fillRect/>
          </a:stretch>
        </p:blipFill>
        <p:spPr>
          <a:xfrm>
            <a:off x="1934935" y="1097280"/>
            <a:ext cx="8322129" cy="5548086"/>
          </a:xfrm>
          <a:prstGeom prst="rect">
            <a:avLst/>
          </a:prstGeom>
        </p:spPr>
      </p:pic>
    </p:spTree>
    <p:extLst>
      <p:ext uri="{BB962C8B-B14F-4D97-AF65-F5344CB8AC3E}">
        <p14:creationId xmlns:p14="http://schemas.microsoft.com/office/powerpoint/2010/main" val="378573456"/>
      </p:ext>
    </p:extLst>
  </p:cSld>
  <p:clrMapOvr>
    <a:masterClrMapping/>
  </p:clrMapOvr>
  <mc:AlternateContent xmlns:mc="http://schemas.openxmlformats.org/markup-compatibility/2006" xmlns:p14="http://schemas.microsoft.com/office/powerpoint/2010/main">
    <mc:Choice Requires="p14">
      <p:transition p14:dur="10" advTm="26000"/>
    </mc:Choice>
    <mc:Fallback xmlns="">
      <p:transition advTm="26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6BDC3-F2B6-B701-47A1-35D18E1670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D9E934D-967C-866C-8D7C-C05D7A624835}"/>
              </a:ext>
            </a:extLst>
          </p:cNvPr>
          <p:cNvSpPr/>
          <p:nvPr/>
        </p:nvSpPr>
        <p:spPr>
          <a:xfrm>
            <a:off x="853440" y="365760"/>
            <a:ext cx="10485120" cy="731520"/>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E2761"/>
                </a:solidFill>
                <a:effectLst/>
                <a:uLnTx/>
                <a:uFillTx/>
                <a:latin typeface="Georgia" pitchFamily="34" charset="0"/>
                <a:ea typeface="Georgia" pitchFamily="34" charset="-122"/>
                <a:cs typeface="Georgia" pitchFamily="34" charset="-120"/>
              </a:rPr>
              <a:t>Results: PDF Transport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3DECD80-4392-4F2B-4C8C-B0F904C91185}"/>
              </a:ext>
            </a:extLst>
          </p:cNvPr>
          <p:cNvPicPr>
            <a:picLocks noChangeAspect="1"/>
          </p:cNvPicPr>
          <p:nvPr/>
        </p:nvPicPr>
        <p:blipFill>
          <a:blip r:embed="rId3"/>
          <a:stretch>
            <a:fillRect/>
          </a:stretch>
        </p:blipFill>
        <p:spPr>
          <a:xfrm>
            <a:off x="2031626" y="1097280"/>
            <a:ext cx="8128748" cy="5419165"/>
          </a:xfrm>
          <a:prstGeom prst="rect">
            <a:avLst/>
          </a:prstGeom>
        </p:spPr>
      </p:pic>
    </p:spTree>
    <p:extLst>
      <p:ext uri="{BB962C8B-B14F-4D97-AF65-F5344CB8AC3E}">
        <p14:creationId xmlns:p14="http://schemas.microsoft.com/office/powerpoint/2010/main" val="1121197249"/>
      </p:ext>
    </p:extLst>
  </p:cSld>
  <p:clrMapOvr>
    <a:masterClrMapping/>
  </p:clrMapOvr>
  <mc:AlternateContent xmlns:mc="http://schemas.openxmlformats.org/markup-compatibility/2006" xmlns:p14="http://schemas.microsoft.com/office/powerpoint/2010/main">
    <mc:Choice Requires="p14">
      <p:transition p14:dur="10" advTm="16000"/>
    </mc:Choice>
    <mc:Fallback xmlns="">
      <p:transition advTm="16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14692-F3D7-D7A6-4644-64865B31C3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5AD22E-FF3E-6FC6-A9D9-C7843402DA33}"/>
              </a:ext>
            </a:extLst>
          </p:cNvPr>
          <p:cNvSpPr/>
          <p:nvPr/>
        </p:nvSpPr>
        <p:spPr>
          <a:xfrm>
            <a:off x="853440" y="365760"/>
            <a:ext cx="10485120" cy="731520"/>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E2761"/>
                </a:solidFill>
                <a:effectLst/>
                <a:uLnTx/>
                <a:uFillTx/>
                <a:latin typeface="Georgia" pitchFamily="34" charset="0"/>
                <a:ea typeface="Georgia" pitchFamily="34" charset="-122"/>
                <a:cs typeface="Georgia" pitchFamily="34" charset="-120"/>
              </a:rPr>
              <a:t>Results: PDF Transport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36B0419-308D-274A-3DAA-2125A29AB70E}"/>
              </a:ext>
            </a:extLst>
          </p:cNvPr>
          <p:cNvPicPr>
            <a:picLocks noChangeAspect="1"/>
          </p:cNvPicPr>
          <p:nvPr/>
        </p:nvPicPr>
        <p:blipFill>
          <a:blip r:embed="rId3"/>
          <a:stretch>
            <a:fillRect/>
          </a:stretch>
        </p:blipFill>
        <p:spPr>
          <a:xfrm>
            <a:off x="2013697" y="1097280"/>
            <a:ext cx="8164606" cy="5443071"/>
          </a:xfrm>
          <a:prstGeom prst="rect">
            <a:avLst/>
          </a:prstGeom>
        </p:spPr>
      </p:pic>
    </p:spTree>
    <p:extLst>
      <p:ext uri="{BB962C8B-B14F-4D97-AF65-F5344CB8AC3E}">
        <p14:creationId xmlns:p14="http://schemas.microsoft.com/office/powerpoint/2010/main" val="2835460206"/>
      </p:ext>
    </p:extLst>
  </p:cSld>
  <p:clrMapOvr>
    <a:masterClrMapping/>
  </p:clrMapOvr>
  <mc:AlternateContent xmlns:mc="http://schemas.openxmlformats.org/markup-compatibility/2006" xmlns:p14="http://schemas.microsoft.com/office/powerpoint/2010/main">
    <mc:Choice Requires="p14">
      <p:transition p14:dur="10" advTm="18000"/>
    </mc:Choice>
    <mc:Fallback xmlns="">
      <p:transition advTm="18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639B4982-9F85-E488-4A0C-2362B1BB91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F28192-E7F1-136E-C167-18E69AD040D0}"/>
              </a:ext>
            </a:extLst>
          </p:cNvPr>
          <p:cNvSpPr/>
          <p:nvPr/>
        </p:nvSpPr>
        <p:spPr>
          <a:xfrm>
            <a:off x="853440" y="365760"/>
            <a:ext cx="10485120"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Conclusions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F6F4943C-2039-1FC9-545E-E1F0F364524C}"/>
              </a:ext>
            </a:extLst>
          </p:cNvPr>
          <p:cNvSpPr/>
          <p:nvPr/>
        </p:nvSpPr>
        <p:spPr>
          <a:xfrm>
            <a:off x="853440" y="1402080"/>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anose="020F0502020204030204"/>
                <a:ea typeface="Calibri" pitchFamily="34" charset="-122"/>
                <a:cs typeface="Calibri" pitchFamily="34" charset="-120"/>
              </a:rPr>
              <a:t>1.</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14AED2C9-1052-5544-5F94-4CC66E13C62D}"/>
              </a:ext>
            </a:extLst>
          </p:cNvPr>
          <p:cNvSpPr/>
          <p:nvPr/>
        </p:nvSpPr>
        <p:spPr>
          <a:xfrm>
            <a:off x="1341120" y="1402080"/>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anose="020F0502020204030204"/>
                <a:ea typeface="Calibri" pitchFamily="34" charset="-122"/>
                <a:cs typeface="Calibri" pitchFamily="34" charset="-120"/>
              </a:rPr>
              <a:t>The Black-Scholes-Merton PDE and the Fokker-Planck equation (forward Kolmogorov) are both derived from SDEs of the same drift-diffusion form, establishing a direct mathematical connection between financial derivative pricing and the transported PDF method in CFD.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B3254EEE-E3CD-99EA-396A-6A765B9024B6}"/>
              </a:ext>
            </a:extLst>
          </p:cNvPr>
          <p:cNvSpPr/>
          <p:nvPr/>
        </p:nvSpPr>
        <p:spPr>
          <a:xfrm>
            <a:off x="853440" y="2511515"/>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anose="020F0502020204030204"/>
                <a:ea typeface="Calibri" pitchFamily="34" charset="-122"/>
                <a:cs typeface="Calibri" pitchFamily="34" charset="-120"/>
              </a:rPr>
              <a:t>2.</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2CB0AB69-9BD2-8E6B-29BF-10F36AC08066}"/>
              </a:ext>
            </a:extLst>
          </p:cNvPr>
          <p:cNvSpPr/>
          <p:nvPr/>
        </p:nvSpPr>
        <p:spPr>
          <a:xfrm>
            <a:off x="1341120" y="2511515"/>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anose="020F0502020204030204"/>
                <a:ea typeface="Calibri" pitchFamily="34" charset="-122"/>
                <a:cs typeface="Calibri" pitchFamily="34" charset="-120"/>
              </a:rPr>
              <a:t>Both Eulerian (finite difference/finite volume) and Lagrangian (Monte Carlo/particle) methods produce results consistent with each other and with analytical solutions.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66D46C55-ABF6-FA31-35C8-F35C29E3C2E1}"/>
              </a:ext>
            </a:extLst>
          </p:cNvPr>
          <p:cNvSpPr/>
          <p:nvPr/>
        </p:nvSpPr>
        <p:spPr>
          <a:xfrm>
            <a:off x="853440" y="3428138"/>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anose="020F0502020204030204"/>
                <a:ea typeface="Calibri" pitchFamily="34" charset="-122"/>
                <a:cs typeface="Calibri" pitchFamily="34" charset="-120"/>
              </a:rPr>
              <a:t>3.</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E6AFF490-1BD4-D8BA-D743-8894FA164394}"/>
              </a:ext>
            </a:extLst>
          </p:cNvPr>
          <p:cNvSpPr/>
          <p:nvPr/>
        </p:nvSpPr>
        <p:spPr>
          <a:xfrm>
            <a:off x="1341120" y="3428138"/>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anose="020F0502020204030204"/>
                <a:ea typeface="Calibri" pitchFamily="34" charset="-122"/>
                <a:cs typeface="Calibri" pitchFamily="34" charset="-120"/>
              </a:rPr>
              <a:t>Monte Carlo particle simulations can reproduce the results obtained from analytical probability density functions.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07C6F134-22B7-732A-6E7F-B6F5AF465910}"/>
              </a:ext>
            </a:extLst>
          </p:cNvPr>
          <p:cNvSpPr/>
          <p:nvPr/>
        </p:nvSpPr>
        <p:spPr>
          <a:xfrm>
            <a:off x="853440" y="4344760"/>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itchFamily="34" charset="0"/>
                <a:ea typeface="Calibri" pitchFamily="34" charset="-122"/>
                <a:cs typeface="Calibri" pitchFamily="34" charset="-120"/>
              </a:rPr>
              <a:t>4.</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5854C222-C952-6392-F9A0-06D96C652049}"/>
              </a:ext>
            </a:extLst>
          </p:cNvPr>
          <p:cNvSpPr/>
          <p:nvPr/>
        </p:nvSpPr>
        <p:spPr>
          <a:xfrm>
            <a:off x="1341120" y="4344760"/>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The Black-Scholes-Merton equation can serve as a validation problem for Lagrangian particle methods because closed-form solutions exist for both the SDE and the PDF.</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a:extLst>
              <a:ext uri="{FF2B5EF4-FFF2-40B4-BE49-F238E27FC236}">
                <a16:creationId xmlns:a16="http://schemas.microsoft.com/office/drawing/2014/main" id="{E0AFCC22-B757-8B0F-901A-3B0CD92232BF}"/>
              </a:ext>
            </a:extLst>
          </p:cNvPr>
          <p:cNvSpPr/>
          <p:nvPr/>
        </p:nvSpPr>
        <p:spPr>
          <a:xfrm>
            <a:off x="853440" y="5320120"/>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itchFamily="34" charset="0"/>
                <a:ea typeface="Calibri" pitchFamily="34" charset="-122"/>
                <a:cs typeface="Calibri" pitchFamily="34" charset="-120"/>
              </a:rPr>
              <a:t>5.</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a:extLst>
              <a:ext uri="{FF2B5EF4-FFF2-40B4-BE49-F238E27FC236}">
                <a16:creationId xmlns:a16="http://schemas.microsoft.com/office/drawing/2014/main" id="{8F4E89C1-30B0-2081-13F2-0F1969B9A10F}"/>
              </a:ext>
            </a:extLst>
          </p:cNvPr>
          <p:cNvSpPr/>
          <p:nvPr/>
        </p:nvSpPr>
        <p:spPr>
          <a:xfrm>
            <a:off x="1341120" y="5320120"/>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Advancements in financial modeling and computational fluid dynamics are mutually beneficial.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6691652"/>
      </p:ext>
    </p:extLst>
  </p:cSld>
  <p:clrMapOvr>
    <a:masterClrMapping/>
  </p:clrMapOvr>
  <mc:AlternateContent xmlns:mc="http://schemas.openxmlformats.org/markup-compatibility/2006" xmlns:p14="http://schemas.microsoft.com/office/powerpoint/2010/main">
    <mc:Choice Requires="p14">
      <p:transition p14:dur="10" advTm="40000"/>
    </mc:Choice>
    <mc:Fallback xmlns="">
      <p:transition advTm="40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365760"/>
            <a:ext cx="10485120" cy="670560"/>
          </a:xfrm>
          <a:prstGeom prst="rect">
            <a:avLst/>
          </a:prstGeom>
          <a:noFill/>
          <a:ln/>
        </p:spPr>
        <p:txBody>
          <a:bodyPr wrap="square" rtlCol="0" anchor="ctr"/>
          <a:lstStyle/>
          <a:p>
            <a:pPr defTabSz="1219170"/>
            <a:r>
              <a:rPr lang="en-US" sz="4000" b="1" dirty="0">
                <a:solidFill>
                  <a:srgbClr val="1E2761"/>
                </a:solidFill>
                <a:latin typeface="Georgia" pitchFamily="34" charset="0"/>
                <a:ea typeface="Georgia" pitchFamily="34" charset="-122"/>
                <a:cs typeface="Georgia" pitchFamily="34" charset="-120"/>
              </a:rPr>
              <a:t>References</a:t>
            </a:r>
            <a:endParaRPr lang="en-US" sz="4000" dirty="0">
              <a:solidFill>
                <a:prstClr val="black"/>
              </a:solidFill>
              <a:latin typeface="Calibri" panose="020F0502020204030204"/>
            </a:endParaRPr>
          </a:p>
        </p:txBody>
      </p:sp>
      <p:sp>
        <p:nvSpPr>
          <p:cNvPr id="3" name="Text 1"/>
          <p:cNvSpPr/>
          <p:nvPr/>
        </p:nvSpPr>
        <p:spPr>
          <a:xfrm>
            <a:off x="853440" y="121920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[1]  Black, F. &amp; Scholes, M. (1973). "The pricing of options and corporate liabilities." Journal of Political Economy, 81(3), 637–654.</a:t>
            </a:r>
            <a:endParaRPr lang="en-US" sz="1500" dirty="0">
              <a:solidFill>
                <a:prstClr val="black"/>
              </a:solidFill>
            </a:endParaRPr>
          </a:p>
        </p:txBody>
      </p:sp>
      <p:sp>
        <p:nvSpPr>
          <p:cNvPr id="4" name="Text 2"/>
          <p:cNvSpPr/>
          <p:nvPr/>
        </p:nvSpPr>
        <p:spPr>
          <a:xfrm>
            <a:off x="853440" y="188976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[2]  Merton, R.C. (1973). "Theory of rational option pricing." Bell Journal of Economics and Management Science, 4(1), 141–183.</a:t>
            </a:r>
            <a:endParaRPr lang="en-US" sz="1500" dirty="0">
              <a:solidFill>
                <a:prstClr val="black"/>
              </a:solidFill>
            </a:endParaRPr>
          </a:p>
        </p:txBody>
      </p:sp>
      <p:sp>
        <p:nvSpPr>
          <p:cNvPr id="5" name="Text 3"/>
          <p:cNvSpPr/>
          <p:nvPr/>
        </p:nvSpPr>
        <p:spPr>
          <a:xfrm>
            <a:off x="853440" y="256032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[3]  Hull, J.C. (2022). Options, Futures, and Other Derivatives, 10th ed. Pearson.</a:t>
            </a:r>
            <a:endParaRPr lang="en-US" sz="1500" dirty="0">
              <a:solidFill>
                <a:prstClr val="black"/>
              </a:solidFill>
            </a:endParaRPr>
          </a:p>
        </p:txBody>
      </p:sp>
      <p:sp>
        <p:nvSpPr>
          <p:cNvPr id="6" name="Text 4"/>
          <p:cNvSpPr/>
          <p:nvPr/>
        </p:nvSpPr>
        <p:spPr>
          <a:xfrm>
            <a:off x="853440" y="323088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[4]  Shreve, S.E. (2004). Stochastic Calculus for Finance II: Continuous-Time Models. Springer.</a:t>
            </a:r>
            <a:endParaRPr lang="en-US" sz="1500" dirty="0">
              <a:solidFill>
                <a:prstClr val="black"/>
              </a:solidFill>
            </a:endParaRPr>
          </a:p>
        </p:txBody>
      </p:sp>
      <p:sp>
        <p:nvSpPr>
          <p:cNvPr id="7" name="Text 5"/>
          <p:cNvSpPr/>
          <p:nvPr/>
        </p:nvSpPr>
        <p:spPr>
          <a:xfrm>
            <a:off x="853440" y="390144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[5]  Pope, S.B. (2000). Turbulent Flows. Cambridge University Press.</a:t>
            </a:r>
            <a:endParaRPr lang="en-US" sz="1500" dirty="0">
              <a:solidFill>
                <a:prstClr val="black"/>
              </a:solidFill>
            </a:endParaRPr>
          </a:p>
        </p:txBody>
      </p:sp>
      <p:sp>
        <p:nvSpPr>
          <p:cNvPr id="8" name="Text 6"/>
          <p:cNvSpPr/>
          <p:nvPr/>
        </p:nvSpPr>
        <p:spPr>
          <a:xfrm>
            <a:off x="853440" y="457200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[6]  Baxter, M. &amp; Rennie, A. (1996). Financial Calculus: An Introduction to Derivative Pricing. Cambridge University Press.</a:t>
            </a:r>
            <a:endParaRPr lang="en-US" sz="1500" dirty="0">
              <a:solidFill>
                <a:prstClr val="black"/>
              </a:solidFill>
            </a:endParaRPr>
          </a:p>
        </p:txBody>
      </p:sp>
      <p:sp>
        <p:nvSpPr>
          <p:cNvPr id="9" name="Text 7"/>
          <p:cNvSpPr/>
          <p:nvPr/>
        </p:nvSpPr>
        <p:spPr>
          <a:xfrm>
            <a:off x="853440" y="524256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[7]  Montgomery, D.C., Runger, G.C., &amp; Hubele, N.F. (2011). Engineering Statistics, 5th ed. Wiley.</a:t>
            </a:r>
            <a:endParaRPr lang="en-US" sz="1500" dirty="0">
              <a:solidFill>
                <a:prstClr val="black"/>
              </a:solidFill>
            </a:endParaRPr>
          </a:p>
        </p:txBody>
      </p:sp>
    </p:spTree>
    <p:extLst>
      <p:ext uri="{BB962C8B-B14F-4D97-AF65-F5344CB8AC3E}">
        <p14:creationId xmlns:p14="http://schemas.microsoft.com/office/powerpoint/2010/main" val="209487791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0447D17C-F7FF-AF2F-AAC8-4EAF25F2E9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FF56A52-D93A-ED25-C9DE-2B9D1C163EEA}"/>
              </a:ext>
            </a:extLst>
          </p:cNvPr>
          <p:cNvSpPr/>
          <p:nvPr/>
        </p:nvSpPr>
        <p:spPr>
          <a:xfrm>
            <a:off x="975360" y="853440"/>
            <a:ext cx="10241280" cy="2926080"/>
          </a:xfrm>
          <a:prstGeom prst="rect">
            <a:avLst/>
          </a:prstGeom>
          <a:noFill/>
          <a:ln/>
        </p:spPr>
        <p:txBody>
          <a:bodyPr wrap="square" rtlCol="0" anchor="ctr"/>
          <a:lstStyle/>
          <a:p>
            <a:pPr marL="0" marR="0" lvl="0" indent="0" algn="l" defTabSz="1219170" rtl="0" eaLnBrk="1" fontAlgn="auto" latinLnBrk="0" hangingPunct="1">
              <a:lnSpc>
                <a:spcPct val="12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Backup</a:t>
            </a:r>
          </a:p>
        </p:txBody>
      </p:sp>
    </p:spTree>
    <p:extLst>
      <p:ext uri="{BB962C8B-B14F-4D97-AF65-F5344CB8AC3E}">
        <p14:creationId xmlns:p14="http://schemas.microsoft.com/office/powerpoint/2010/main" val="3479173325"/>
      </p:ext>
    </p:extLst>
  </p:cSld>
  <p:clrMapOvr>
    <a:masterClrMapping/>
  </p:clrMapOvr>
  <mc:AlternateContent xmlns:mc="http://schemas.openxmlformats.org/markup-compatibility/2006" xmlns:p14="http://schemas.microsoft.com/office/powerpoint/2010/main">
    <mc:Choice Requires="p14">
      <p:transition p14:dur="10" advTm="8500"/>
    </mc:Choice>
    <mc:Fallback xmlns="">
      <p:transition advTm="85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7250C80-D6C2-F2A5-1349-84CAE7EF0770}"/>
              </a:ext>
            </a:extLst>
          </p:cNvPr>
          <p:cNvSpPr/>
          <p:nvPr/>
        </p:nvSpPr>
        <p:spPr>
          <a:xfrm>
            <a:off x="853440" y="379314"/>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Financial Derivatives: Options</a:t>
            </a:r>
            <a:endParaRPr lang="en-US" sz="4000" dirty="0"/>
          </a:p>
        </p:txBody>
      </p:sp>
      <p:sp>
        <p:nvSpPr>
          <p:cNvPr id="4" name="Text 1">
            <a:extLst>
              <a:ext uri="{FF2B5EF4-FFF2-40B4-BE49-F238E27FC236}">
                <a16:creationId xmlns:a16="http://schemas.microsoft.com/office/drawing/2014/main" id="{049661F3-D7E6-191C-FD38-0172288BE9AF}"/>
              </a:ext>
            </a:extLst>
          </p:cNvPr>
          <p:cNvSpPr/>
          <p:nvPr/>
        </p:nvSpPr>
        <p:spPr>
          <a:xfrm>
            <a:off x="853440" y="1145559"/>
            <a:ext cx="10485120" cy="2170846"/>
          </a:xfrm>
          <a:prstGeom prst="rect">
            <a:avLst/>
          </a:prstGeom>
          <a:noFill/>
          <a:ln/>
        </p:spPr>
        <p:txBody>
          <a:bodyPr wrap="square" rtlCol="0" anchor="ctr"/>
          <a:lstStyle/>
          <a:p>
            <a:pPr>
              <a:lnSpc>
                <a:spcPct val="150000"/>
              </a:lnSpc>
            </a:pPr>
            <a:r>
              <a:rPr lang="en-US" sz="1400" b="1" dirty="0">
                <a:ea typeface="Calibri" pitchFamily="34" charset="-122"/>
                <a:cs typeface="Calibri" pitchFamily="34" charset="-120"/>
              </a:rPr>
              <a:t>Derivatives: </a:t>
            </a:r>
            <a:r>
              <a:rPr lang="en-US" sz="1400" dirty="0"/>
              <a:t>A financial instrument whose value depends on (or derives from) the values of other, more basic, underlying variables.</a:t>
            </a:r>
          </a:p>
          <a:p>
            <a:pPr>
              <a:lnSpc>
                <a:spcPct val="150000"/>
              </a:lnSpc>
            </a:pPr>
            <a:r>
              <a:rPr lang="en-US" sz="1400" b="1" dirty="0">
                <a:ea typeface="Calibri" pitchFamily="34" charset="-122"/>
                <a:cs typeface="Calibri" pitchFamily="34" charset="-120"/>
              </a:rPr>
              <a:t>Stock Options: </a:t>
            </a:r>
            <a:r>
              <a:rPr lang="en-US" sz="1400" dirty="0"/>
              <a:t>A derivative whose value is dependent on the price of a stock.</a:t>
            </a:r>
          </a:p>
          <a:p>
            <a:pPr>
              <a:lnSpc>
                <a:spcPct val="150000"/>
              </a:lnSpc>
            </a:pPr>
            <a:r>
              <a:rPr lang="en-US" sz="1400" b="1" dirty="0">
                <a:ea typeface="Calibri" pitchFamily="34" charset="-122"/>
                <a:cs typeface="Calibri" pitchFamily="34" charset="-120"/>
              </a:rPr>
              <a:t>Call Option: </a:t>
            </a:r>
            <a:r>
              <a:rPr lang="en-US" sz="1400" dirty="0"/>
              <a:t>Gives the holder the right, but not the obligation, to buy the underlying asset by a certain date for a certain price.</a:t>
            </a:r>
          </a:p>
          <a:p>
            <a:pPr>
              <a:lnSpc>
                <a:spcPct val="150000"/>
              </a:lnSpc>
            </a:pPr>
            <a:r>
              <a:rPr lang="en-US" sz="1400" b="1" dirty="0">
                <a:ea typeface="Calibri" pitchFamily="34" charset="-122"/>
                <a:cs typeface="Calibri" pitchFamily="34" charset="-120"/>
              </a:rPr>
              <a:t>Put Option: </a:t>
            </a:r>
            <a:r>
              <a:rPr lang="en-US" sz="1400" dirty="0"/>
              <a:t>Gives the holder the right, but not the obligation, to sell the underlying asset by a certain date for a certain price.</a:t>
            </a:r>
          </a:p>
          <a:p>
            <a:pPr>
              <a:lnSpc>
                <a:spcPct val="150000"/>
              </a:lnSpc>
            </a:pPr>
            <a:r>
              <a:rPr lang="en-US" sz="1400" b="1" dirty="0">
                <a:ea typeface="Calibri" pitchFamily="34" charset="-122"/>
                <a:cs typeface="Calibri" pitchFamily="34" charset="-120"/>
              </a:rPr>
              <a:t>European Options: </a:t>
            </a:r>
            <a:r>
              <a:rPr lang="en-US" sz="1400" dirty="0"/>
              <a:t>Can only be exercised on the expiration date.</a:t>
            </a:r>
          </a:p>
          <a:p>
            <a:pPr>
              <a:lnSpc>
                <a:spcPct val="150000"/>
              </a:lnSpc>
            </a:pPr>
            <a:r>
              <a:rPr lang="en-US" sz="1400" b="1" dirty="0">
                <a:ea typeface="Calibri" pitchFamily="34" charset="-122"/>
                <a:cs typeface="Calibri" pitchFamily="34" charset="-120"/>
              </a:rPr>
              <a:t>American Options: </a:t>
            </a:r>
            <a:r>
              <a:rPr lang="en-US" sz="1400" dirty="0">
                <a:ea typeface="Calibri" pitchFamily="34" charset="-122"/>
                <a:cs typeface="Calibri" pitchFamily="34" charset="-120"/>
              </a:rPr>
              <a:t>Can be exercised at any time up to the expiration date.</a:t>
            </a:r>
          </a:p>
          <a:p>
            <a:pPr>
              <a:lnSpc>
                <a:spcPct val="150000"/>
              </a:lnSpc>
            </a:pPr>
            <a:r>
              <a:rPr lang="en-US" sz="1400" b="1" dirty="0">
                <a:ea typeface="Calibri" pitchFamily="34" charset="-122"/>
                <a:cs typeface="Calibri" pitchFamily="34" charset="-120"/>
              </a:rPr>
              <a:t>Strike Price: </a:t>
            </a:r>
            <a:r>
              <a:rPr lang="en-US" sz="1400" dirty="0">
                <a:ea typeface="Calibri" pitchFamily="34" charset="-122"/>
                <a:cs typeface="Calibri" pitchFamily="34" charset="-120"/>
              </a:rPr>
              <a:t>The price at which the asset may be bought or sold in an option contract.</a:t>
            </a:r>
            <a:endParaRPr lang="en-US" sz="1400" b="1" dirty="0"/>
          </a:p>
          <a:p>
            <a:pPr>
              <a:lnSpc>
                <a:spcPct val="150000"/>
              </a:lnSpc>
            </a:pPr>
            <a:endParaRPr lang="en-US" sz="1400" dirty="0"/>
          </a:p>
        </p:txBody>
      </p:sp>
      <p:pic>
        <p:nvPicPr>
          <p:cNvPr id="13" name="Picture 12">
            <a:extLst>
              <a:ext uri="{FF2B5EF4-FFF2-40B4-BE49-F238E27FC236}">
                <a16:creationId xmlns:a16="http://schemas.microsoft.com/office/drawing/2014/main" id="{04D5BE71-7CE5-4D63-FB0F-26306ACF9581}"/>
              </a:ext>
            </a:extLst>
          </p:cNvPr>
          <p:cNvPicPr>
            <a:picLocks noChangeAspect="1"/>
          </p:cNvPicPr>
          <p:nvPr/>
        </p:nvPicPr>
        <p:blipFill>
          <a:blip r:embed="rId3"/>
          <a:stretch>
            <a:fillRect/>
          </a:stretch>
        </p:blipFill>
        <p:spPr>
          <a:xfrm>
            <a:off x="655152" y="3345985"/>
            <a:ext cx="5439534" cy="2819794"/>
          </a:xfrm>
          <a:prstGeom prst="rect">
            <a:avLst/>
          </a:prstGeom>
        </p:spPr>
      </p:pic>
      <p:pic>
        <p:nvPicPr>
          <p:cNvPr id="15" name="Picture 14">
            <a:extLst>
              <a:ext uri="{FF2B5EF4-FFF2-40B4-BE49-F238E27FC236}">
                <a16:creationId xmlns:a16="http://schemas.microsoft.com/office/drawing/2014/main" id="{14BA3B7B-63DB-8801-391C-B4E904A03E10}"/>
              </a:ext>
            </a:extLst>
          </p:cNvPr>
          <p:cNvPicPr>
            <a:picLocks noChangeAspect="1"/>
          </p:cNvPicPr>
          <p:nvPr/>
        </p:nvPicPr>
        <p:blipFill>
          <a:blip r:embed="rId4"/>
          <a:stretch>
            <a:fillRect/>
          </a:stretch>
        </p:blipFill>
        <p:spPr>
          <a:xfrm>
            <a:off x="6291660" y="3345985"/>
            <a:ext cx="5430008" cy="2667372"/>
          </a:xfrm>
          <a:prstGeom prst="rect">
            <a:avLst/>
          </a:prstGeom>
        </p:spPr>
      </p:pic>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18D5272D-AC21-3B7F-28FF-D442960FBCA2}"/>
                  </a:ext>
                </a:extLst>
              </p:cNvPr>
              <p:cNvSpPr/>
              <p:nvPr/>
            </p:nvSpPr>
            <p:spPr>
              <a:xfrm>
                <a:off x="4758014" y="6130388"/>
                <a:ext cx="3067291" cy="607362"/>
              </a:xfrm>
              <a:prstGeom prst="rect">
                <a:avLst/>
              </a:prstGeom>
              <a:solidFill>
                <a:srgbClr val="F0F2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m:t>
                      </m:r>
                      <m:r>
                        <a:rPr lang="en-US" i="1" smtClean="0">
                          <a:solidFill>
                            <a:schemeClr val="tx1"/>
                          </a:solidFill>
                          <a:latin typeface="Cambria Math" panose="02040503050406030204" pitchFamily="18" charset="0"/>
                        </a:rPr>
                        <m:t>=</m:t>
                      </m:r>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max</m:t>
                          </m:r>
                        </m:fName>
                        <m:e>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𝑇</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𝐾</m:t>
                              </m:r>
                              <m:r>
                                <a:rPr lang="en-US" i="1">
                                  <a:solidFill>
                                    <a:schemeClr val="tx1"/>
                                  </a:solidFill>
                                  <a:latin typeface="Cambria Math" panose="02040503050406030204" pitchFamily="18" charset="0"/>
                                </a:rPr>
                                <m:t>, 0</m:t>
                              </m:r>
                            </m:e>
                          </m:d>
                        </m:e>
                      </m:func>
                    </m:oMath>
                  </m:oMathPara>
                </a14:m>
                <a:endParaRPr lang="en-US" dirty="0">
                  <a:solidFill>
                    <a:schemeClr val="tx1"/>
                  </a:solidFill>
                </a:endParaRPr>
              </a:p>
            </p:txBody>
          </p:sp>
        </mc:Choice>
        <mc:Fallback xmlns="">
          <p:sp>
            <p:nvSpPr>
              <p:cNvPr id="18" name="Rectangle 17">
                <a:extLst>
                  <a:ext uri="{FF2B5EF4-FFF2-40B4-BE49-F238E27FC236}">
                    <a16:creationId xmlns:a16="http://schemas.microsoft.com/office/drawing/2014/main" id="{18D5272D-AC21-3B7F-28FF-D442960FBCA2}"/>
                  </a:ext>
                </a:extLst>
              </p:cNvPr>
              <p:cNvSpPr>
                <a:spLocks noRot="1" noChangeAspect="1" noMove="1" noResize="1" noEditPoints="1" noAdjustHandles="1" noChangeArrowheads="1" noChangeShapeType="1" noTextEdit="1"/>
              </p:cNvSpPr>
              <p:nvPr/>
            </p:nvSpPr>
            <p:spPr>
              <a:xfrm>
                <a:off x="4758014" y="6130388"/>
                <a:ext cx="3067291" cy="607362"/>
              </a:xfrm>
              <a:prstGeom prst="rect">
                <a:avLst/>
              </a:prstGeom>
              <a:blipFill>
                <a:blip r:embed="rId7"/>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341977933"/>
      </p:ext>
    </p:extLst>
  </p:cSld>
  <p:clrMapOvr>
    <a:masterClrMapping/>
  </p:clrMapOvr>
  <mc:AlternateContent xmlns:mc="http://schemas.openxmlformats.org/markup-compatibility/2006" xmlns:p14="http://schemas.microsoft.com/office/powerpoint/2010/main">
    <mc:Choice Requires="p14">
      <p:transition p14:dur="10" advTm="18000"/>
    </mc:Choice>
    <mc:Fallback xmlns="">
      <p:transition advTm="18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The Black-Scholes-Merton Equation</a:t>
            </a:r>
            <a:endParaRPr lang="en-US" sz="4000" dirty="0"/>
          </a:p>
        </p:txBody>
      </p:sp>
      <p:sp>
        <p:nvSpPr>
          <p:cNvPr id="3" name="Text 1"/>
          <p:cNvSpPr/>
          <p:nvPr/>
        </p:nvSpPr>
        <p:spPr>
          <a:xfrm>
            <a:off x="853440" y="1051773"/>
            <a:ext cx="10485120" cy="792480"/>
          </a:xfrm>
          <a:prstGeom prst="rect">
            <a:avLst/>
          </a:prstGeom>
          <a:noFill/>
          <a:ln/>
        </p:spPr>
        <p:txBody>
          <a:bodyPr wrap="square" rtlCol="0" anchor="ctr"/>
          <a:lstStyle/>
          <a:p>
            <a:r>
              <a:rPr lang="en-US" sz="1600" dirty="0">
                <a:ea typeface="Calibri" pitchFamily="34" charset="-122"/>
                <a:cs typeface="Calibri" pitchFamily="34" charset="-120"/>
              </a:rPr>
              <a:t>Black, Scholes (1973) and Merton (1973) independently derived the following PDE for pricing European options:</a:t>
            </a:r>
            <a:endParaRPr lang="en-US" sz="1600" dirty="0"/>
          </a:p>
        </p:txBody>
      </p:sp>
      <p:sp>
        <p:nvSpPr>
          <p:cNvPr id="4" name="Text 2"/>
          <p:cNvSpPr/>
          <p:nvPr/>
        </p:nvSpPr>
        <p:spPr>
          <a:xfrm>
            <a:off x="853440" y="1747234"/>
            <a:ext cx="10485120" cy="426720"/>
          </a:xfrm>
          <a:prstGeom prst="rect">
            <a:avLst/>
          </a:prstGeom>
          <a:noFill/>
          <a:ln/>
        </p:spPr>
        <p:txBody>
          <a:bodyPr wrap="square" rtlCol="0" anchor="ctr"/>
          <a:lstStyle/>
          <a:p>
            <a:r>
              <a:rPr lang="en-US" b="1" dirty="0">
                <a:solidFill>
                  <a:srgbClr val="1E2761"/>
                </a:solidFill>
                <a:ea typeface="Calibri" pitchFamily="34" charset="-122"/>
                <a:cs typeface="Calibri" pitchFamily="34" charset="-120"/>
              </a:rPr>
              <a:t>Black-Scholes-Merton</a:t>
            </a:r>
            <a:r>
              <a:rPr lang="en-US" sz="1733" b="1" dirty="0">
                <a:solidFill>
                  <a:srgbClr val="1E2761"/>
                </a:solidFill>
                <a:latin typeface="Calibri" pitchFamily="34" charset="0"/>
                <a:ea typeface="Calibri" pitchFamily="34" charset="-122"/>
                <a:cs typeface="Calibri" pitchFamily="34" charset="-120"/>
              </a:rPr>
              <a:t> PDE</a:t>
            </a:r>
            <a:endParaRPr lang="en-US" sz="1733" dirty="0">
              <a:solidFill>
                <a:srgbClr val="1E2761"/>
              </a:solidFill>
            </a:endParaRPr>
          </a:p>
        </p:txBody>
      </p:sp>
      <p:sp>
        <p:nvSpPr>
          <p:cNvPr id="6" name="Text 3"/>
          <p:cNvSpPr/>
          <p:nvPr/>
        </p:nvSpPr>
        <p:spPr>
          <a:xfrm>
            <a:off x="853440" y="3184513"/>
            <a:ext cx="10485120" cy="426720"/>
          </a:xfrm>
          <a:prstGeom prst="rect">
            <a:avLst/>
          </a:prstGeom>
          <a:noFill/>
          <a:ln/>
        </p:spPr>
        <p:txBody>
          <a:bodyPr wrap="square" rtlCol="0" anchor="ctr"/>
          <a:lstStyle/>
          <a:p>
            <a:r>
              <a:rPr lang="en-US" sz="1600" dirty="0">
                <a:ea typeface="Calibri" pitchFamily="34" charset="-122"/>
                <a:cs typeface="Calibri" pitchFamily="34" charset="-120"/>
              </a:rPr>
              <a:t>This equation can be derived from the Geometric Brownian Motion SDE for stock prices:</a:t>
            </a:r>
            <a:endParaRPr lang="en-US" sz="1600" dirty="0"/>
          </a:p>
        </p:txBody>
      </p:sp>
      <p:sp>
        <p:nvSpPr>
          <p:cNvPr id="8" name="Text 4"/>
          <p:cNvSpPr/>
          <p:nvPr/>
        </p:nvSpPr>
        <p:spPr>
          <a:xfrm>
            <a:off x="1718898" y="4195072"/>
            <a:ext cx="8754199" cy="853440"/>
          </a:xfrm>
          <a:prstGeom prst="rect">
            <a:avLst/>
          </a:prstGeom>
          <a:noFill/>
          <a:ln/>
        </p:spPr>
        <p:txBody>
          <a:bodyPr wrap="square" rtlCol="0" anchor="ctr"/>
          <a:lstStyle/>
          <a:p>
            <a:pPr>
              <a:lnSpc>
                <a:spcPct val="130000"/>
              </a:lnSpc>
            </a:pPr>
            <a:r>
              <a:rPr lang="en-US" i="1" dirty="0">
                <a:ea typeface="Calibri" pitchFamily="34" charset="-122"/>
                <a:cs typeface="Calibri" pitchFamily="34" charset="-120"/>
              </a:rPr>
              <a:t>V = option value     S = stock price     r = risk-free rate     σ = volatility     dW = Wiener process</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3CA5263-2EDB-FA82-E932-E9F657D0E089}"/>
                  </a:ext>
                </a:extLst>
              </p:cNvPr>
              <p:cNvSpPr txBox="1"/>
              <p:nvPr/>
            </p:nvSpPr>
            <p:spPr>
              <a:xfrm>
                <a:off x="3732852" y="2226948"/>
                <a:ext cx="4726294" cy="7412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𝑉</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f>
                        <m:fPr>
                          <m:ctrlPr>
                            <a:rPr lang="en-US" sz="2400" b="0" i="1">
                              <a:latin typeface="Cambria Math" panose="02040503050406030204" pitchFamily="18" charset="0"/>
                            </a:rPr>
                          </m:ctrlPr>
                        </m:fPr>
                        <m:num>
                          <m:r>
                            <a:rPr lang="en-US" sz="2400" b="0" i="1">
                              <a:latin typeface="Cambria Math" panose="02040503050406030204" pitchFamily="18" charset="0"/>
                            </a:rPr>
                            <m:t>1</m:t>
                          </m:r>
                        </m:num>
                        <m:den>
                          <m:r>
                            <a:rPr lang="en-US" sz="2400" b="0" i="1">
                              <a:latin typeface="Cambria Math" panose="02040503050406030204" pitchFamily="18" charset="0"/>
                            </a:rPr>
                            <m:t>2</m:t>
                          </m:r>
                        </m:den>
                      </m:f>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𝑆</m:t>
                          </m:r>
                        </m:e>
                        <m:sup>
                          <m:r>
                            <a:rPr lang="en-US" sz="2400" b="0" i="1" smtClean="0">
                              <a:latin typeface="Cambria Math" panose="02040503050406030204" pitchFamily="18" charset="0"/>
                            </a:rPr>
                            <m:t>2</m:t>
                          </m:r>
                        </m:sup>
                      </m:sSup>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𝑉</m:t>
                          </m:r>
                        </m:num>
                        <m:den>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𝑆</m:t>
                              </m:r>
                            </m:e>
                            <m:sup>
                              <m:r>
                                <a:rPr lang="en-US" sz="2400" b="0" i="1" smtClean="0">
                                  <a:latin typeface="Cambria Math" panose="02040503050406030204" pitchFamily="18" charset="0"/>
                                </a:rPr>
                                <m:t>2</m:t>
                              </m:r>
                            </m:sup>
                          </m:sSup>
                        </m:den>
                      </m:f>
                      <m:r>
                        <a:rPr lang="en-US" sz="2400" b="0" i="1" smtClean="0">
                          <a:latin typeface="Cambria Math" panose="02040503050406030204" pitchFamily="18" charset="0"/>
                        </a:rPr>
                        <m:t>+</m:t>
                      </m:r>
                      <m:r>
                        <a:rPr lang="en-US" sz="2400" b="0" i="1" smtClean="0">
                          <a:latin typeface="Cambria Math" panose="02040503050406030204" pitchFamily="18" charset="0"/>
                        </a:rPr>
                        <m:t>𝑟𝑆</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𝑉</m:t>
                          </m:r>
                        </m:num>
                        <m:den>
                          <m:r>
                            <a:rPr lang="en-US" sz="2400" b="0" i="1" smtClean="0">
                              <a:latin typeface="Cambria Math" panose="02040503050406030204" pitchFamily="18" charset="0"/>
                            </a:rPr>
                            <m:t>𝜕</m:t>
                          </m:r>
                          <m:r>
                            <a:rPr lang="en-US" sz="2400" b="0" i="1" smtClean="0">
                              <a:latin typeface="Cambria Math" panose="02040503050406030204" pitchFamily="18" charset="0"/>
                            </a:rPr>
                            <m:t>𝑆</m:t>
                          </m:r>
                        </m:den>
                      </m:f>
                      <m:r>
                        <a:rPr lang="en-US" sz="2400" b="0" i="1" smtClean="0">
                          <a:latin typeface="Cambria Math" panose="02040503050406030204" pitchFamily="18" charset="0"/>
                        </a:rPr>
                        <m:t>−</m:t>
                      </m:r>
                      <m:r>
                        <a:rPr lang="en-US" sz="2400" b="0" i="1" smtClean="0">
                          <a:latin typeface="Cambria Math" panose="02040503050406030204" pitchFamily="18" charset="0"/>
                        </a:rPr>
                        <m:t>𝑟𝑉</m:t>
                      </m:r>
                      <m:r>
                        <a:rPr lang="en-US" sz="2400" b="0" i="1" smtClean="0">
                          <a:latin typeface="Cambria Math" panose="02040503050406030204" pitchFamily="18" charset="0"/>
                        </a:rPr>
                        <m:t>=0</m:t>
                      </m:r>
                    </m:oMath>
                  </m:oMathPara>
                </a14:m>
                <a:endParaRPr lang="en-US" sz="2400" dirty="0"/>
              </a:p>
            </p:txBody>
          </p:sp>
        </mc:Choice>
        <mc:Fallback xmlns="">
          <p:sp>
            <p:nvSpPr>
              <p:cNvPr id="11" name="TextBox 10">
                <a:extLst>
                  <a:ext uri="{FF2B5EF4-FFF2-40B4-BE49-F238E27FC236}">
                    <a16:creationId xmlns:a16="http://schemas.microsoft.com/office/drawing/2014/main" id="{A3CA5263-2EDB-FA82-E932-E9F657D0E089}"/>
                  </a:ext>
                </a:extLst>
              </p:cNvPr>
              <p:cNvSpPr txBox="1">
                <a:spLocks noRot="1" noChangeAspect="1" noMove="1" noResize="1" noEditPoints="1" noAdjustHandles="1" noChangeArrowheads="1" noChangeShapeType="1" noTextEdit="1"/>
              </p:cNvSpPr>
              <p:nvPr/>
            </p:nvSpPr>
            <p:spPr>
              <a:xfrm>
                <a:off x="3732852" y="2226948"/>
                <a:ext cx="4726294" cy="74129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0794484-F789-8083-2EFD-1E0297C4778E}"/>
                  </a:ext>
                </a:extLst>
              </p:cNvPr>
              <p:cNvSpPr txBox="1"/>
              <p:nvPr/>
            </p:nvSpPr>
            <p:spPr>
              <a:xfrm>
                <a:off x="4712607" y="3803516"/>
                <a:ext cx="27667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rPr>
                        <m:t>dS</m:t>
                      </m:r>
                      <m:r>
                        <a:rPr lang="en-US" sz="2400" b="0" i="1" smtClean="0">
                          <a:latin typeface="Cambria Math" panose="02040503050406030204" pitchFamily="18" charset="0"/>
                        </a:rPr>
                        <m:t> = </m:t>
                      </m:r>
                      <m:r>
                        <m:rPr>
                          <m:sty m:val="p"/>
                        </m:rPr>
                        <a:rPr lang="en-US" sz="2400" b="0" i="1" smtClean="0">
                          <a:latin typeface="Cambria Math" panose="02040503050406030204" pitchFamily="18" charset="0"/>
                        </a:rPr>
                        <m:t>rSdt</m:t>
                      </m:r>
                      <m:r>
                        <a:rPr lang="en-US" sz="2400" b="0" i="1" smtClean="0">
                          <a:latin typeface="Cambria Math" panose="02040503050406030204" pitchFamily="18" charset="0"/>
                        </a:rPr>
                        <m:t> + </m:t>
                      </m:r>
                      <m:r>
                        <m:rPr>
                          <m:sty m:val="p"/>
                        </m:rPr>
                        <a:rPr lang="en-US" sz="2400" b="0" i="1" smtClean="0">
                          <a:latin typeface="Cambria Math" panose="02040503050406030204" pitchFamily="18" charset="0"/>
                        </a:rPr>
                        <m:t>σSdW</m:t>
                      </m:r>
                    </m:oMath>
                  </m:oMathPara>
                </a14:m>
                <a:endParaRPr lang="en-US" sz="2400" dirty="0"/>
              </a:p>
            </p:txBody>
          </p:sp>
        </mc:Choice>
        <mc:Fallback xmlns="">
          <p:sp>
            <p:nvSpPr>
              <p:cNvPr id="13" name="TextBox 12">
                <a:extLst>
                  <a:ext uri="{FF2B5EF4-FFF2-40B4-BE49-F238E27FC236}">
                    <a16:creationId xmlns:a16="http://schemas.microsoft.com/office/drawing/2014/main" id="{80794484-F789-8083-2EFD-1E0297C4778E}"/>
                  </a:ext>
                </a:extLst>
              </p:cNvPr>
              <p:cNvSpPr txBox="1">
                <a:spLocks noRot="1" noChangeAspect="1" noMove="1" noResize="1" noEditPoints="1" noAdjustHandles="1" noChangeArrowheads="1" noChangeShapeType="1" noTextEdit="1"/>
              </p:cNvSpPr>
              <p:nvPr/>
            </p:nvSpPr>
            <p:spPr>
              <a:xfrm>
                <a:off x="4712607" y="3803516"/>
                <a:ext cx="2766783" cy="369332"/>
              </a:xfrm>
              <a:prstGeom prst="rect">
                <a:avLst/>
              </a:prstGeom>
              <a:blipFill>
                <a:blip r:embed="rId6"/>
                <a:stretch>
                  <a:fillRect l="-2203" r="-2423" b="-6557"/>
                </a:stretch>
              </a:blipFill>
            </p:spPr>
            <p:txBody>
              <a:bodyPr/>
              <a:lstStyle/>
              <a:p>
                <a:r>
                  <a:rPr lang="en-US">
                    <a:noFill/>
                  </a:rPr>
                  <a:t> </a:t>
                </a:r>
              </a:p>
            </p:txBody>
          </p:sp>
        </mc:Fallback>
      </mc:AlternateContent>
      <p:sp>
        <p:nvSpPr>
          <p:cNvPr id="14" name="Text 2">
            <a:extLst>
              <a:ext uri="{FF2B5EF4-FFF2-40B4-BE49-F238E27FC236}">
                <a16:creationId xmlns:a16="http://schemas.microsoft.com/office/drawing/2014/main" id="{7593F4A1-3BCE-F876-037D-9B66B149B13E}"/>
              </a:ext>
            </a:extLst>
          </p:cNvPr>
          <p:cNvSpPr/>
          <p:nvPr/>
        </p:nvSpPr>
        <p:spPr>
          <a:xfrm>
            <a:off x="853440" y="4961135"/>
            <a:ext cx="10485120" cy="426720"/>
          </a:xfrm>
          <a:prstGeom prst="rect">
            <a:avLst/>
          </a:prstGeom>
          <a:noFill/>
          <a:ln/>
        </p:spPr>
        <p:txBody>
          <a:bodyPr wrap="square" rtlCol="0" anchor="ctr"/>
          <a:lstStyle/>
          <a:p>
            <a:r>
              <a:rPr lang="en-US" b="1" dirty="0">
                <a:solidFill>
                  <a:srgbClr val="1E2761"/>
                </a:solidFill>
                <a:ea typeface="Calibri" pitchFamily="34" charset="-122"/>
                <a:cs typeface="Calibri" pitchFamily="34" charset="-120"/>
              </a:rPr>
              <a:t>Itô’s Lemma:</a:t>
            </a:r>
            <a:endParaRPr lang="en-US" sz="1733" dirty="0">
              <a:solidFill>
                <a:srgbClr val="1E276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62085C3-5184-5328-76AC-04B8BED73197}"/>
                  </a:ext>
                </a:extLst>
              </p:cNvPr>
              <p:cNvSpPr txBox="1"/>
              <p:nvPr/>
            </p:nvSpPr>
            <p:spPr>
              <a:xfrm>
                <a:off x="2725972" y="5275124"/>
                <a:ext cx="6740050" cy="837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rPr>
                        <m:t>dV</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i="1">
                              <a:latin typeface="Cambria Math" panose="02040503050406030204" pitchFamily="18" charset="0"/>
                            </a:rPr>
                            <m:t>𝑟𝑆</m:t>
                          </m:r>
                          <m:f>
                            <m:fPr>
                              <m:ctrlPr>
                                <a:rPr lang="en-US" sz="2400" i="1">
                                  <a:latin typeface="Cambria Math" panose="02040503050406030204" pitchFamily="18" charset="0"/>
                                </a:rPr>
                              </m:ctrlPr>
                            </m:fPr>
                            <m:num>
                              <m:r>
                                <a:rPr lang="en-US" sz="2400" i="1">
                                  <a:latin typeface="Cambria Math" panose="02040503050406030204" pitchFamily="18" charset="0"/>
                                </a:rPr>
                                <m:t>𝜕</m:t>
                              </m:r>
                              <m:r>
                                <a:rPr lang="en-US" sz="2400" i="1">
                                  <a:latin typeface="Cambria Math" panose="02040503050406030204" pitchFamily="18" charset="0"/>
                                </a:rPr>
                                <m:t>𝑉</m:t>
                              </m:r>
                            </m:num>
                            <m:den>
                              <m:r>
                                <a:rPr lang="en-US" sz="2400" i="1">
                                  <a:latin typeface="Cambria Math" panose="02040503050406030204" pitchFamily="18" charset="0"/>
                                </a:rPr>
                                <m:t>𝜕</m:t>
                              </m:r>
                              <m:r>
                                <a:rPr lang="en-US" sz="2400" i="1">
                                  <a:latin typeface="Cambria Math" panose="02040503050406030204" pitchFamily="18" charset="0"/>
                                </a:rPr>
                                <m:t>𝑆</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m:t>
                              </m:r>
                              <m:r>
                                <a:rPr lang="en-US" sz="2400" i="1">
                                  <a:latin typeface="Cambria Math" panose="02040503050406030204" pitchFamily="18" charset="0"/>
                                </a:rPr>
                                <m:t>𝑉</m:t>
                              </m:r>
                            </m:num>
                            <m:den>
                              <m:r>
                                <a:rPr lang="en-US" sz="2400" i="1">
                                  <a:latin typeface="Cambria Math" panose="02040503050406030204" pitchFamily="18" charset="0"/>
                                </a:rPr>
                                <m:t>𝜕</m:t>
                              </m:r>
                              <m:r>
                                <a:rPr lang="en-US" sz="2400" i="1">
                                  <a:latin typeface="Cambria Math" panose="02040503050406030204" pitchFamily="18" charset="0"/>
                                </a:rPr>
                                <m:t>𝑡</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i="1">
                                  <a:latin typeface="Cambria Math" panose="02040503050406030204" pitchFamily="18" charset="0"/>
                                </a:rPr>
                                <m:t>2</m:t>
                              </m:r>
                            </m:sup>
                          </m:sSup>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m:t>
                                  </m:r>
                                </m:e>
                                <m:sup>
                                  <m:r>
                                    <a:rPr lang="en-US" sz="2400" i="1">
                                      <a:latin typeface="Cambria Math" panose="02040503050406030204" pitchFamily="18" charset="0"/>
                                    </a:rPr>
                                    <m:t>2</m:t>
                                  </m:r>
                                </m:sup>
                              </m:sSup>
                              <m:r>
                                <a:rPr lang="en-US" sz="2400" i="1">
                                  <a:latin typeface="Cambria Math" panose="02040503050406030204" pitchFamily="18" charset="0"/>
                                </a:rPr>
                                <m:t>𝑉</m:t>
                              </m:r>
                            </m:num>
                            <m:den>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i="1">
                                      <a:latin typeface="Cambria Math" panose="02040503050406030204" pitchFamily="18" charset="0"/>
                                    </a:rPr>
                                    <m:t>2</m:t>
                                  </m:r>
                                </m:sup>
                              </m:sSup>
                            </m:den>
                          </m:f>
                        </m:e>
                      </m:d>
                      <m:r>
                        <m:rPr>
                          <m:sty m:val="p"/>
                        </m:rPr>
                        <a:rPr lang="en-US" sz="2400" b="0" i="1" smtClean="0">
                          <a:latin typeface="Cambria Math" panose="02040503050406030204" pitchFamily="18" charset="0"/>
                        </a:rPr>
                        <m:t>dt</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m:rPr>
                              <m:sty m:val="p"/>
                            </m:rPr>
                            <a:rPr lang="en-US" sz="2400" b="0" i="1" smtClean="0">
                              <a:latin typeface="Cambria Math" panose="02040503050406030204" pitchFamily="18" charset="0"/>
                            </a:rPr>
                            <m:t>V</m:t>
                          </m:r>
                        </m:num>
                        <m:den>
                          <m:r>
                            <a:rPr lang="en-US" sz="2400" b="0" i="1" smtClean="0">
                              <a:latin typeface="Cambria Math" panose="02040503050406030204" pitchFamily="18" charset="0"/>
                            </a:rPr>
                            <m:t>𝜕</m:t>
                          </m:r>
                          <m:r>
                            <m:rPr>
                              <m:sty m:val="p"/>
                            </m:rPr>
                            <a:rPr lang="en-US" sz="2400" b="0" i="1" smtClean="0">
                              <a:latin typeface="Cambria Math" panose="02040503050406030204" pitchFamily="18" charset="0"/>
                            </a:rPr>
                            <m:t>S</m:t>
                          </m:r>
                        </m:den>
                      </m:f>
                      <m:r>
                        <m:rPr>
                          <m:sty m:val="p"/>
                        </m:rPr>
                        <a:rPr lang="en-US" sz="2400" b="0" i="1" smtClean="0">
                          <a:latin typeface="Cambria Math" panose="02040503050406030204" pitchFamily="18" charset="0"/>
                        </a:rPr>
                        <m:t>σSdW</m:t>
                      </m:r>
                    </m:oMath>
                  </m:oMathPara>
                </a14:m>
                <a:endParaRPr lang="en-US" sz="2400" dirty="0"/>
              </a:p>
            </p:txBody>
          </p:sp>
        </mc:Choice>
        <mc:Fallback xmlns="">
          <p:sp>
            <p:nvSpPr>
              <p:cNvPr id="16" name="TextBox 15">
                <a:extLst>
                  <a:ext uri="{FF2B5EF4-FFF2-40B4-BE49-F238E27FC236}">
                    <a16:creationId xmlns:a16="http://schemas.microsoft.com/office/drawing/2014/main" id="{162085C3-5184-5328-76AC-04B8BED73197}"/>
                  </a:ext>
                </a:extLst>
              </p:cNvPr>
              <p:cNvSpPr txBox="1">
                <a:spLocks noRot="1" noChangeAspect="1" noMove="1" noResize="1" noEditPoints="1" noAdjustHandles="1" noChangeArrowheads="1" noChangeShapeType="1" noTextEdit="1"/>
              </p:cNvSpPr>
              <p:nvPr/>
            </p:nvSpPr>
            <p:spPr>
              <a:xfrm>
                <a:off x="2725972" y="5275124"/>
                <a:ext cx="6740050" cy="837345"/>
              </a:xfrm>
              <a:prstGeom prst="rect">
                <a:avLst/>
              </a:prstGeom>
              <a:blipFill>
                <a:blip r:embed="rId7"/>
                <a:stretch>
                  <a:fillRect/>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advTm="59000"/>
    </mc:Choice>
    <mc:Fallback xmlns="">
      <p:transition advTm="59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61D6A5-E9ED-4FFB-E35F-B4FED201A28C}"/>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The Transported PDF Method</a:t>
            </a:r>
            <a:endParaRPr lang="en-US" sz="4000" dirty="0"/>
          </a:p>
        </p:txBody>
      </p:sp>
      <mc:AlternateContent xmlns:mc="http://schemas.openxmlformats.org/markup-compatibility/2006" xmlns:a14="http://schemas.microsoft.com/office/drawing/2010/main">
        <mc:Choice Requires="a14">
          <p:sp>
            <p:nvSpPr>
              <p:cNvPr id="3" name="Text 1">
                <a:extLst>
                  <a:ext uri="{FF2B5EF4-FFF2-40B4-BE49-F238E27FC236}">
                    <a16:creationId xmlns:a16="http://schemas.microsoft.com/office/drawing/2014/main" id="{48689DA2-F558-F640-CAEE-32F922D240EB}"/>
                  </a:ext>
                </a:extLst>
              </p:cNvPr>
              <p:cNvSpPr/>
              <p:nvPr/>
            </p:nvSpPr>
            <p:spPr>
              <a:xfrm>
                <a:off x="853440" y="1051773"/>
                <a:ext cx="10485120" cy="792480"/>
              </a:xfrm>
              <a:prstGeom prst="rect">
                <a:avLst/>
              </a:prstGeom>
              <a:noFill/>
              <a:ln/>
            </p:spPr>
            <p:txBody>
              <a:bodyPr wrap="square" rtlCol="0" anchor="ctr"/>
              <a:lstStyle/>
              <a:p>
                <a:r>
                  <a:rPr lang="en-US" sz="1600" dirty="0">
                    <a:ea typeface="Calibri" pitchFamily="34" charset="-122"/>
                    <a:cs typeface="Calibri" pitchFamily="34" charset="-120"/>
                  </a:rPr>
                  <a:t>In a turbulent flow, the velocity field </a:t>
                </a:r>
                <a14:m>
                  <m:oMath xmlns:m="http://schemas.openxmlformats.org/officeDocument/2006/math">
                    <m:r>
                      <a:rPr lang="en-US" sz="1600" b="1" i="1" smtClean="0">
                        <a:latin typeface="Cambria Math" panose="02040503050406030204" pitchFamily="18" charset="0"/>
                        <a:ea typeface="Calibri" pitchFamily="34" charset="-122"/>
                        <a:cs typeface="Calibri" pitchFamily="34" charset="-120"/>
                      </a:rPr>
                      <m:t>𝑼</m:t>
                    </m:r>
                    <m:r>
                      <a:rPr lang="en-US" sz="1600" b="0" i="1" smtClean="0">
                        <a:latin typeface="Cambria Math" panose="02040503050406030204" pitchFamily="18" charset="0"/>
                        <a:ea typeface="Calibri" pitchFamily="34" charset="-122"/>
                        <a:cs typeface="Calibri" pitchFamily="34" charset="-120"/>
                      </a:rPr>
                      <m:t>(</m:t>
                    </m:r>
                    <m:r>
                      <a:rPr lang="en-US" sz="1600" b="1" i="1" smtClean="0">
                        <a:latin typeface="Cambria Math" panose="02040503050406030204" pitchFamily="18" charset="0"/>
                        <a:ea typeface="Calibri" pitchFamily="34" charset="-122"/>
                        <a:cs typeface="Calibri" pitchFamily="34" charset="-120"/>
                      </a:rPr>
                      <m:t>𝒙</m:t>
                    </m:r>
                    <m:r>
                      <a:rPr lang="en-US" sz="1600" b="1" i="1" smtClean="0">
                        <a:latin typeface="Cambria Math" panose="02040503050406030204" pitchFamily="18" charset="0"/>
                        <a:ea typeface="Calibri" pitchFamily="34" charset="-122"/>
                        <a:cs typeface="Calibri" pitchFamily="34" charset="-120"/>
                      </a:rPr>
                      <m:t>, </m:t>
                    </m:r>
                    <m:r>
                      <m:rPr>
                        <m:sty m:val="p"/>
                      </m:rPr>
                      <a:rPr lang="en-US" sz="1600" b="1" i="1" smtClean="0">
                        <a:latin typeface="Cambria Math" panose="02040503050406030204" pitchFamily="18" charset="0"/>
                        <a:ea typeface="Calibri" pitchFamily="34" charset="-122"/>
                        <a:cs typeface="Calibri" pitchFamily="34" charset="-120"/>
                      </a:rPr>
                      <m:t>t</m:t>
                    </m:r>
                    <m:r>
                      <a:rPr lang="en-US" sz="1600" b="1" i="1" smtClean="0">
                        <a:latin typeface="Cambria Math" panose="02040503050406030204" pitchFamily="18" charset="0"/>
                        <a:ea typeface="Calibri" pitchFamily="34" charset="-122"/>
                        <a:cs typeface="Calibri" pitchFamily="34" charset="-120"/>
                      </a:rPr>
                      <m:t>)</m:t>
                    </m:r>
                  </m:oMath>
                </a14:m>
                <a:r>
                  <a:rPr lang="en-US" sz="1600" b="1" dirty="0"/>
                  <a:t> </a:t>
                </a:r>
                <a:r>
                  <a:rPr lang="en-US" sz="1600" dirty="0"/>
                  <a:t>is random (Pope, 2000). The exact transport equation for the Eulerian PDF of the velocity, </a:t>
                </a:r>
                <a14:m>
                  <m:oMath xmlns:m="http://schemas.openxmlformats.org/officeDocument/2006/math">
                    <m:r>
                      <m:rPr>
                        <m:sty m:val="p"/>
                      </m:rPr>
                      <a:rPr lang="en-US" sz="1600" b="0" i="1" smtClean="0">
                        <a:latin typeface="Cambria Math" panose="02040503050406030204" pitchFamily="18" charset="0"/>
                      </a:rPr>
                      <m:t>f</m:t>
                    </m:r>
                    <m:r>
                      <a:rPr lang="en-US" sz="1600" b="0" i="1" smtClean="0">
                        <a:latin typeface="Cambria Math" panose="02040503050406030204" pitchFamily="18" charset="0"/>
                      </a:rPr>
                      <m:t>(</m:t>
                    </m:r>
                    <m:r>
                      <a:rPr lang="en-US" sz="1600" b="1" i="1" smtClean="0">
                        <a:latin typeface="Cambria Math" panose="02040503050406030204" pitchFamily="18" charset="0"/>
                      </a:rPr>
                      <m:t>𝑽</m:t>
                    </m:r>
                    <m:r>
                      <a:rPr lang="en-US" sz="1600" b="1" i="1" smtClean="0">
                        <a:latin typeface="Cambria Math" panose="02040503050406030204" pitchFamily="18" charset="0"/>
                      </a:rPr>
                      <m:t>; </m:t>
                    </m:r>
                    <m:r>
                      <m:rPr>
                        <m:sty m:val="p"/>
                      </m:rPr>
                      <a:rPr lang="en-US" sz="1600" b="1" i="1" smtClean="0">
                        <a:latin typeface="Cambria Math" panose="02040503050406030204" pitchFamily="18" charset="0"/>
                      </a:rPr>
                      <m:t>x</m:t>
                    </m:r>
                    <m:r>
                      <a:rPr lang="en-US" sz="1600" b="1" i="1" smtClean="0">
                        <a:latin typeface="Cambria Math" panose="02040503050406030204" pitchFamily="18" charset="0"/>
                      </a:rPr>
                      <m:t>, </m:t>
                    </m:r>
                    <m:r>
                      <m:rPr>
                        <m:sty m:val="p"/>
                      </m:rPr>
                      <a:rPr lang="en-US" sz="1600" b="1" i="1" smtClean="0">
                        <a:latin typeface="Cambria Math" panose="02040503050406030204" pitchFamily="18" charset="0"/>
                      </a:rPr>
                      <m:t>t</m:t>
                    </m:r>
                    <m:r>
                      <a:rPr lang="en-US" sz="1600" b="1" i="1" smtClean="0">
                        <a:latin typeface="Cambria Math" panose="02040503050406030204" pitchFamily="18" charset="0"/>
                      </a:rPr>
                      <m:t>),</m:t>
                    </m:r>
                  </m:oMath>
                </a14:m>
                <a:r>
                  <a:rPr lang="en-US" sz="1600" dirty="0"/>
                  <a:t> derived from the Navier-Stokes equations is expressed as</a:t>
                </a:r>
                <a:endParaRPr lang="en-US" sz="1600" b="1" dirty="0"/>
              </a:p>
            </p:txBody>
          </p:sp>
        </mc:Choice>
        <mc:Fallback xmlns="">
          <p:sp>
            <p:nvSpPr>
              <p:cNvPr id="3" name="Text 1">
                <a:extLst>
                  <a:ext uri="{FF2B5EF4-FFF2-40B4-BE49-F238E27FC236}">
                    <a16:creationId xmlns:a16="http://schemas.microsoft.com/office/drawing/2014/main" id="{48689DA2-F558-F640-CAEE-32F922D240EB}"/>
                  </a:ext>
                </a:extLst>
              </p:cNvPr>
              <p:cNvSpPr>
                <a:spLocks noRot="1" noChangeAspect="1" noMove="1" noResize="1" noEditPoints="1" noAdjustHandles="1" noChangeArrowheads="1" noChangeShapeType="1" noTextEdit="1"/>
              </p:cNvSpPr>
              <p:nvPr/>
            </p:nvSpPr>
            <p:spPr>
              <a:xfrm>
                <a:off x="853440" y="1051773"/>
                <a:ext cx="10485120" cy="792480"/>
              </a:xfrm>
              <a:prstGeom prst="rect">
                <a:avLst/>
              </a:prstGeom>
              <a:blipFill>
                <a:blip r:embed="rId5"/>
                <a:stretch>
                  <a:fillRect l="-291" r="-58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C3A308-5D2E-43F4-44E6-F914724CADE1}"/>
                  </a:ext>
                </a:extLst>
              </p:cNvPr>
              <p:cNvSpPr txBox="1"/>
              <p:nvPr/>
            </p:nvSpPr>
            <p:spPr>
              <a:xfrm>
                <a:off x="2610555" y="1844253"/>
                <a:ext cx="6970889" cy="7646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𝑓</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𝑓</m:t>
                          </m:r>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Sub>
                        </m:den>
                      </m:f>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𝑓</m:t>
                          </m:r>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𝐷</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𝑈</m:t>
                                      </m:r>
                                    </m:e>
                                    <m:sub>
                                      <m:r>
                                        <a:rPr lang="en-US" sz="2400" b="0" i="1" smtClean="0">
                                          <a:latin typeface="Cambria Math" panose="02040503050406030204" pitchFamily="18" charset="0"/>
                                        </a:rPr>
                                        <m:t>𝑖</m:t>
                                      </m:r>
                                    </m:sub>
                                  </m:sSub>
                                </m:num>
                                <m:den>
                                  <m:r>
                                    <a:rPr lang="en-US" sz="2400" b="0" i="1" smtClean="0">
                                      <a:latin typeface="Cambria Math" panose="02040503050406030204" pitchFamily="18" charset="0"/>
                                    </a:rPr>
                                    <m:t>𝐷𝑡</m:t>
                                  </m:r>
                                </m:den>
                              </m:f>
                            </m:e>
                            <m:e>
                              <m:r>
                                <a:rPr lang="en-US" sz="2400" b="1" i="1" smtClean="0">
                                  <a:latin typeface="Cambria Math" panose="02040503050406030204" pitchFamily="18" charset="0"/>
                                </a:rPr>
                                <m:t>𝑽</m:t>
                              </m:r>
                            </m:e>
                          </m:d>
                        </m:e>
                      </m:d>
                    </m:oMath>
                  </m:oMathPara>
                </a14:m>
                <a:endParaRPr lang="en-US" sz="2400" dirty="0"/>
              </a:p>
            </p:txBody>
          </p:sp>
        </mc:Choice>
        <mc:Fallback xmlns="">
          <p:sp>
            <p:nvSpPr>
              <p:cNvPr id="7" name="TextBox 6">
                <a:extLst>
                  <a:ext uri="{FF2B5EF4-FFF2-40B4-BE49-F238E27FC236}">
                    <a16:creationId xmlns:a16="http://schemas.microsoft.com/office/drawing/2014/main" id="{E0C3A308-5D2E-43F4-44E6-F914724CADE1}"/>
                  </a:ext>
                </a:extLst>
              </p:cNvPr>
              <p:cNvSpPr txBox="1">
                <a:spLocks noRot="1" noChangeAspect="1" noMove="1" noResize="1" noEditPoints="1" noAdjustHandles="1" noChangeArrowheads="1" noChangeShapeType="1" noTextEdit="1"/>
              </p:cNvSpPr>
              <p:nvPr/>
            </p:nvSpPr>
            <p:spPr>
              <a:xfrm>
                <a:off x="2610555" y="1844253"/>
                <a:ext cx="6970889" cy="76469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1">
                <a:extLst>
                  <a:ext uri="{FF2B5EF4-FFF2-40B4-BE49-F238E27FC236}">
                    <a16:creationId xmlns:a16="http://schemas.microsoft.com/office/drawing/2014/main" id="{2828B940-B06D-6225-6472-904C76840A00}"/>
                  </a:ext>
                </a:extLst>
              </p:cNvPr>
              <p:cNvSpPr/>
              <p:nvPr/>
            </p:nvSpPr>
            <p:spPr>
              <a:xfrm>
                <a:off x="853440" y="2636520"/>
                <a:ext cx="10485120" cy="792480"/>
              </a:xfrm>
              <a:prstGeom prst="rect">
                <a:avLst/>
              </a:prstGeom>
              <a:noFill/>
              <a:ln/>
            </p:spPr>
            <p:txBody>
              <a:bodyPr wrap="square" rtlCol="0" anchor="ctr"/>
              <a:lstStyle/>
              <a:p>
                <a:r>
                  <a:rPr lang="en-US" sz="1600" dirty="0">
                    <a:ea typeface="Calibri" pitchFamily="34" charset="-122"/>
                    <a:cs typeface="Calibri" pitchFamily="34" charset="-120"/>
                  </a:rPr>
                  <a:t>The equation for the evolution of the conditional PDF of the particle velocity </a:t>
                </a:r>
                <a14:m>
                  <m:oMath xmlns:m="http://schemas.openxmlformats.org/officeDocument/2006/math">
                    <m:sSup>
                      <m:sSupPr>
                        <m:ctrlPr>
                          <a:rPr lang="en-US" sz="1600" i="1" smtClean="0">
                            <a:latin typeface="Cambria Math" panose="02040503050406030204" pitchFamily="18" charset="0"/>
                            <a:ea typeface="Calibri" pitchFamily="34" charset="-122"/>
                            <a:cs typeface="Calibri" pitchFamily="34" charset="-120"/>
                          </a:rPr>
                        </m:ctrlPr>
                      </m:sSupPr>
                      <m:e>
                        <m:r>
                          <m:rPr>
                            <m:sty m:val="p"/>
                          </m:rPr>
                          <a:rPr lang="en-US" sz="1600" b="0" i="1" smtClean="0">
                            <a:latin typeface="Cambria Math" panose="02040503050406030204" pitchFamily="18" charset="0"/>
                            <a:ea typeface="Calibri" pitchFamily="34" charset="-122"/>
                            <a:cs typeface="Calibri" pitchFamily="34" charset="-120"/>
                          </a:rPr>
                          <m:t>f</m:t>
                        </m:r>
                      </m:e>
                      <m:sup>
                        <m:r>
                          <a:rPr lang="en-US" sz="1600" b="0" i="1" smtClean="0">
                            <a:latin typeface="Cambria Math" panose="02040503050406030204" pitchFamily="18" charset="0"/>
                            <a:ea typeface="Calibri" pitchFamily="34" charset="-122"/>
                            <a:cs typeface="Calibri" pitchFamily="34" charset="-120"/>
                          </a:rPr>
                          <m:t>∗</m:t>
                        </m:r>
                      </m:sup>
                    </m:sSup>
                    <m:r>
                      <a:rPr lang="en-US" sz="1600" b="0" i="1" smtClean="0">
                        <a:latin typeface="Cambria Math" panose="02040503050406030204" pitchFamily="18" charset="0"/>
                        <a:ea typeface="Calibri" pitchFamily="34" charset="-122"/>
                        <a:cs typeface="Calibri" pitchFamily="34" charset="-120"/>
                      </a:rPr>
                      <m:t>(</m:t>
                    </m:r>
                    <m:r>
                      <a:rPr lang="en-US" sz="1600" b="1" i="1" smtClean="0">
                        <a:latin typeface="Cambria Math" panose="02040503050406030204" pitchFamily="18" charset="0"/>
                        <a:ea typeface="Calibri" pitchFamily="34" charset="-122"/>
                        <a:cs typeface="Calibri" pitchFamily="34" charset="-120"/>
                      </a:rPr>
                      <m:t>𝑽</m:t>
                    </m:r>
                    <m:r>
                      <a:rPr lang="en-US" sz="1600" b="0" i="1" smtClean="0">
                        <a:latin typeface="Cambria Math" panose="02040503050406030204" pitchFamily="18" charset="0"/>
                        <a:ea typeface="Calibri" pitchFamily="34" charset="-122"/>
                        <a:cs typeface="Calibri" pitchFamily="34" charset="-120"/>
                      </a:rPr>
                      <m:t>|</m:t>
                    </m:r>
                    <m:r>
                      <a:rPr lang="en-US" sz="1600" b="1" i="1" smtClean="0">
                        <a:latin typeface="Cambria Math" panose="02040503050406030204" pitchFamily="18" charset="0"/>
                        <a:ea typeface="Calibri" pitchFamily="34" charset="-122"/>
                        <a:cs typeface="Calibri" pitchFamily="34" charset="-120"/>
                      </a:rPr>
                      <m:t>𝒙</m:t>
                    </m:r>
                    <m:r>
                      <a:rPr lang="en-US" sz="1600" b="0" i="1" smtClean="0">
                        <a:latin typeface="Cambria Math" panose="02040503050406030204" pitchFamily="18" charset="0"/>
                        <a:ea typeface="Calibri" pitchFamily="34" charset="-122"/>
                        <a:cs typeface="Calibri" pitchFamily="34" charset="-120"/>
                      </a:rPr>
                      <m:t>;</m:t>
                    </m:r>
                    <m:r>
                      <m:rPr>
                        <m:sty m:val="p"/>
                      </m:rPr>
                      <a:rPr lang="en-US" sz="1600" b="0" i="1" smtClean="0">
                        <a:latin typeface="Cambria Math" panose="02040503050406030204" pitchFamily="18" charset="0"/>
                        <a:ea typeface="Calibri" pitchFamily="34" charset="-122"/>
                        <a:cs typeface="Calibri" pitchFamily="34" charset="-120"/>
                      </a:rPr>
                      <m:t>t</m:t>
                    </m:r>
                    <m:r>
                      <a:rPr lang="en-US" sz="1600" b="0" i="1" smtClean="0">
                        <a:latin typeface="Cambria Math" panose="02040503050406030204" pitchFamily="18" charset="0"/>
                        <a:ea typeface="Calibri" pitchFamily="34" charset="-122"/>
                        <a:cs typeface="Calibri" pitchFamily="34" charset="-120"/>
                      </a:rPr>
                      <m:t>)</m:t>
                    </m:r>
                  </m:oMath>
                </a14:m>
                <a:r>
                  <a:rPr lang="en-US" sz="1600" dirty="0">
                    <a:ea typeface="Calibri" pitchFamily="34" charset="-122"/>
                    <a:cs typeface="Calibri" pitchFamily="34" charset="-120"/>
                  </a:rPr>
                  <a:t> is expressed as: </a:t>
                </a:r>
                <a:endParaRPr lang="en-US" sz="1600" b="1" dirty="0"/>
              </a:p>
            </p:txBody>
          </p:sp>
        </mc:Choice>
        <mc:Fallback xmlns="">
          <p:sp>
            <p:nvSpPr>
              <p:cNvPr id="8" name="Text 1">
                <a:extLst>
                  <a:ext uri="{FF2B5EF4-FFF2-40B4-BE49-F238E27FC236}">
                    <a16:creationId xmlns:a16="http://schemas.microsoft.com/office/drawing/2014/main" id="{2828B940-B06D-6225-6472-904C76840A00}"/>
                  </a:ext>
                </a:extLst>
              </p:cNvPr>
              <p:cNvSpPr>
                <a:spLocks noRot="1" noChangeAspect="1" noMove="1" noResize="1" noEditPoints="1" noAdjustHandles="1" noChangeArrowheads="1" noChangeShapeType="1" noTextEdit="1"/>
              </p:cNvSpPr>
              <p:nvPr/>
            </p:nvSpPr>
            <p:spPr>
              <a:xfrm>
                <a:off x="853440" y="2636520"/>
                <a:ext cx="10485120" cy="792480"/>
              </a:xfrm>
              <a:prstGeom prst="rect">
                <a:avLst/>
              </a:prstGeom>
              <a:blipFill>
                <a:blip r:embed="rId7"/>
                <a:stretch>
                  <a:fillRect l="-29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789376D-F7B5-C6FC-A280-0F1A8563E1C7}"/>
                  </a:ext>
                </a:extLst>
              </p:cNvPr>
              <p:cNvSpPr txBox="1"/>
              <p:nvPr/>
            </p:nvSpPr>
            <p:spPr>
              <a:xfrm>
                <a:off x="2522520" y="3401217"/>
                <a:ext cx="7146957" cy="816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num>
                        <m:den>
                          <m:r>
                            <a:rPr lang="en-US" sz="2400" b="0" i="1" smtClean="0">
                              <a:latin typeface="Cambria Math" panose="02040503050406030204" pitchFamily="18" charset="0"/>
                            </a:rPr>
                            <m:t>𝜕</m:t>
                          </m:r>
                          <m:r>
                            <m:rPr>
                              <m:sty m:val="p"/>
                            </m:rPr>
                            <a:rPr lang="en-US" sz="2400" b="0" i="1" smtClean="0">
                              <a:latin typeface="Cambria Math" panose="02040503050406030204" pitchFamily="18" charset="0"/>
                            </a:rPr>
                            <m:t>t</m:t>
                          </m:r>
                        </m:den>
                      </m:f>
                      <m:r>
                        <a:rPr lang="en-US" sz="2400" b="0" i="1" smtClean="0">
                          <a:latin typeface="Cambria Math" panose="02040503050406030204" pitchFamily="18" charset="0"/>
                        </a:rPr>
                        <m:t> + </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V</m:t>
                          </m:r>
                        </m:e>
                        <m:sub>
                          <m:r>
                            <m:rPr>
                              <m:sty m:val="p"/>
                            </m:rPr>
                            <a:rPr lang="en-US" sz="2400" b="0" i="1" smtClean="0">
                              <a:latin typeface="Cambria Math" panose="02040503050406030204" pitchFamily="18" charset="0"/>
                            </a:rPr>
                            <m:t>i</m:t>
                          </m:r>
                        </m:sub>
                      </m:sSub>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x</m:t>
                              </m:r>
                            </m:e>
                            <m:sub>
                              <m:r>
                                <m:rPr>
                                  <m:sty m:val="p"/>
                                </m:rPr>
                                <a:rPr lang="en-US" sz="2400" b="0" i="1" smtClean="0">
                                  <a:latin typeface="Cambria Math" panose="02040503050406030204" pitchFamily="18" charset="0"/>
                                </a:rPr>
                                <m:t>i</m:t>
                              </m:r>
                            </m:sub>
                          </m:sSub>
                        </m:den>
                      </m:f>
                      <m:r>
                        <a:rPr lang="en-US" sz="2400" b="0" i="1" smtClean="0">
                          <a:latin typeface="Cambria Math" panose="02040503050406030204" pitchFamily="18" charset="0"/>
                        </a:rPr>
                        <m:t> = </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V</m:t>
                              </m:r>
                            </m:e>
                            <m:sub>
                              <m:r>
                                <m:rPr>
                                  <m:sty m:val="p"/>
                                </m:rPr>
                                <a:rPr lang="en-US" sz="2400" b="0" i="1" smtClean="0">
                                  <a:latin typeface="Cambria Math" panose="02040503050406030204" pitchFamily="18" charset="0"/>
                                </a:rPr>
                                <m:t>i</m:t>
                              </m:r>
                            </m:sub>
                          </m:sSub>
                        </m:den>
                      </m:f>
                      <m:d>
                        <m:dPr>
                          <m:begChr m:val="["/>
                          <m:endChr m:val="]"/>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a</m:t>
                              </m:r>
                            </m:e>
                            <m:sub>
                              <m:r>
                                <m:rPr>
                                  <m:sty m:val="p"/>
                                </m:rPr>
                                <a:rPr lang="en-US" sz="2400" b="0" i="1" smtClean="0">
                                  <a:latin typeface="Cambria Math" panose="02040503050406030204" pitchFamily="18" charset="0"/>
                                </a:rPr>
                                <m:t>i</m:t>
                              </m:r>
                            </m:sub>
                          </m:sSub>
                          <m:r>
                            <a:rPr lang="en-US" sz="2400" b="0" i="1" smtClean="0">
                              <a:latin typeface="Cambria Math" panose="02040503050406030204" pitchFamily="18" charset="0"/>
                            </a:rPr>
                            <m:t>(</m:t>
                          </m:r>
                          <m:r>
                            <a:rPr lang="en-US" sz="2400" b="1" i="1" smtClean="0">
                              <a:latin typeface="Cambria Math" panose="02040503050406030204" pitchFamily="18" charset="0"/>
                            </a:rPr>
                            <m:t>𝑽</m:t>
                          </m:r>
                          <m:r>
                            <a:rPr lang="en-US" sz="2400" b="1" i="1" smtClean="0">
                              <a:latin typeface="Cambria Math" panose="02040503050406030204" pitchFamily="18" charset="0"/>
                            </a:rPr>
                            <m:t>, </m:t>
                          </m:r>
                          <m:r>
                            <a:rPr lang="en-US" sz="2400" b="1" i="1" smtClean="0">
                              <a:latin typeface="Cambria Math" panose="02040503050406030204" pitchFamily="18" charset="0"/>
                            </a:rPr>
                            <m:t>𝒙</m:t>
                          </m:r>
                          <m:r>
                            <a:rPr lang="en-US" sz="2400" b="1" i="1" smtClean="0">
                              <a:latin typeface="Cambria Math" panose="02040503050406030204" pitchFamily="18" charset="0"/>
                            </a:rPr>
                            <m:t>, </m:t>
                          </m:r>
                          <m:r>
                            <m:rPr>
                              <m:sty m:val="p"/>
                            </m:rPr>
                            <a:rPr lang="en-US" sz="2400" b="1" i="1" smtClean="0">
                              <a:latin typeface="Cambria Math" panose="02040503050406030204" pitchFamily="18" charset="0"/>
                            </a:rPr>
                            <m:t>t</m:t>
                          </m:r>
                          <m:r>
                            <a:rPr lang="en-US" sz="2400" b="1" i="1" smtClean="0">
                              <a:latin typeface="Cambria Math" panose="02040503050406030204" pitchFamily="18" charset="0"/>
                            </a:rPr>
                            <m:t>)</m:t>
                          </m:r>
                        </m:e>
                      </m:d>
                      <m:r>
                        <a:rPr lang="en-US" sz="2400" b="0" i="1" smtClean="0">
                          <a:latin typeface="Cambria Math" panose="02040503050406030204" pitchFamily="18" charset="0"/>
                        </a:rPr>
                        <m:t> +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m:rPr>
                          <m:sty m:val="p"/>
                        </m:rPr>
                        <a:rPr lang="en-US" sz="2400" b="0" i="1" smtClean="0">
                          <a:latin typeface="Cambria Math" panose="02040503050406030204" pitchFamily="18" charset="0"/>
                        </a:rPr>
                        <m:t>b</m:t>
                      </m:r>
                      <m:sSup>
                        <m:sSupPr>
                          <m:ctrlPr>
                            <a:rPr lang="en-US" sz="2400" b="0" i="1" smtClean="0">
                              <a:latin typeface="Cambria Math" panose="02040503050406030204" pitchFamily="18" charset="0"/>
                            </a:rPr>
                          </m:ctrlPr>
                        </m:sSupPr>
                        <m:e>
                          <m:r>
                            <a:rPr lang="en-US" sz="2400" i="1">
                              <a:latin typeface="Cambria Math" panose="02040503050406030204" pitchFamily="18" charset="0"/>
                            </a:rPr>
                            <m:t>(</m:t>
                          </m:r>
                          <m:r>
                            <a:rPr lang="en-US" sz="2400" b="1" i="1">
                              <a:latin typeface="Cambria Math" panose="02040503050406030204" pitchFamily="18" charset="0"/>
                            </a:rPr>
                            <m:t>𝒙</m:t>
                          </m:r>
                          <m:r>
                            <a:rPr lang="en-US" sz="2400" b="1" i="1">
                              <a:latin typeface="Cambria Math" panose="02040503050406030204" pitchFamily="18" charset="0"/>
                            </a:rPr>
                            <m:t>, </m:t>
                          </m:r>
                          <m:r>
                            <m:rPr>
                              <m:sty m:val="p"/>
                            </m:rPr>
                            <a:rPr lang="en-US" sz="2400" b="1" i="1">
                              <a:latin typeface="Cambria Math" panose="02040503050406030204" pitchFamily="18" charset="0"/>
                            </a:rPr>
                            <m:t>t</m:t>
                          </m:r>
                          <m:r>
                            <a:rPr lang="en-US" sz="2400">
                              <a:latin typeface="Cambria Math" panose="02040503050406030204" pitchFamily="18" charset="0"/>
                            </a:rPr>
                            <m:t>)</m:t>
                          </m:r>
                        </m:e>
                        <m:sup>
                          <m:r>
                            <a:rPr lang="en-US" sz="2400" b="0" i="1" smtClean="0">
                              <a:latin typeface="Cambria Math" panose="02040503050406030204" pitchFamily="18" charset="0"/>
                            </a:rPr>
                            <m:t>2</m:t>
                          </m:r>
                        </m:sup>
                      </m:sSup>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i="1">
                                  <a:latin typeface="Cambria Math" panose="02040503050406030204" pitchFamily="18" charset="0"/>
                                </a:rPr>
                                <m:t>𝜕</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V</m:t>
                              </m:r>
                            </m:e>
                            <m:sub>
                              <m:r>
                                <m:rPr>
                                  <m:sty m:val="p"/>
                                </m:rPr>
                                <a:rPr lang="en-US" sz="2400" b="0" i="1" smtClean="0">
                                  <a:latin typeface="Cambria Math" panose="02040503050406030204" pitchFamily="18" charset="0"/>
                                </a:rPr>
                                <m:t>i</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V</m:t>
                              </m:r>
                            </m:e>
                            <m:sub>
                              <m:r>
                                <m:rPr>
                                  <m:sty m:val="p"/>
                                </m:rPr>
                                <a:rPr lang="en-US" sz="2400" i="1">
                                  <a:latin typeface="Cambria Math" panose="02040503050406030204" pitchFamily="18" charset="0"/>
                                </a:rPr>
                                <m:t>i</m:t>
                              </m:r>
                            </m:sub>
                          </m:sSub>
                        </m:den>
                      </m:f>
                    </m:oMath>
                  </m:oMathPara>
                </a14:m>
                <a:endParaRPr lang="en-US" sz="2400" b="1" dirty="0"/>
              </a:p>
            </p:txBody>
          </p:sp>
        </mc:Choice>
        <mc:Fallback xmlns="">
          <p:sp>
            <p:nvSpPr>
              <p:cNvPr id="9" name="TextBox 8">
                <a:extLst>
                  <a:ext uri="{FF2B5EF4-FFF2-40B4-BE49-F238E27FC236}">
                    <a16:creationId xmlns:a16="http://schemas.microsoft.com/office/drawing/2014/main" id="{9789376D-F7B5-C6FC-A280-0F1A8563E1C7}"/>
                  </a:ext>
                </a:extLst>
              </p:cNvPr>
              <p:cNvSpPr txBox="1">
                <a:spLocks noRot="1" noChangeAspect="1" noMove="1" noResize="1" noEditPoints="1" noAdjustHandles="1" noChangeArrowheads="1" noChangeShapeType="1" noTextEdit="1"/>
              </p:cNvSpPr>
              <p:nvPr/>
            </p:nvSpPr>
            <p:spPr>
              <a:xfrm>
                <a:off x="2522520" y="3401217"/>
                <a:ext cx="7146957" cy="816442"/>
              </a:xfrm>
              <a:prstGeom prst="rect">
                <a:avLst/>
              </a:prstGeom>
              <a:blipFill>
                <a:blip r:embed="rId8"/>
                <a:stretch>
                  <a:fillRect/>
                </a:stretch>
              </a:blipFill>
            </p:spPr>
            <p:txBody>
              <a:bodyPr/>
              <a:lstStyle/>
              <a:p>
                <a:r>
                  <a:rPr lang="en-US">
                    <a:noFill/>
                  </a:rPr>
                  <a:t> </a:t>
                </a:r>
              </a:p>
            </p:txBody>
          </p:sp>
        </mc:Fallback>
      </mc:AlternateContent>
      <p:sp>
        <p:nvSpPr>
          <p:cNvPr id="10" name="Text 1">
            <a:extLst>
              <a:ext uri="{FF2B5EF4-FFF2-40B4-BE49-F238E27FC236}">
                <a16:creationId xmlns:a16="http://schemas.microsoft.com/office/drawing/2014/main" id="{9C09535B-87FB-6E60-CE5E-4B81080CEFB5}"/>
              </a:ext>
            </a:extLst>
          </p:cNvPr>
          <p:cNvSpPr/>
          <p:nvPr/>
        </p:nvSpPr>
        <p:spPr>
          <a:xfrm>
            <a:off x="853438" y="4312920"/>
            <a:ext cx="10485120" cy="792480"/>
          </a:xfrm>
          <a:prstGeom prst="rect">
            <a:avLst/>
          </a:prstGeom>
          <a:noFill/>
          <a:ln/>
        </p:spPr>
        <p:txBody>
          <a:bodyPr wrap="square" rtlCol="0" anchor="ctr"/>
          <a:lstStyle/>
          <a:p>
            <a:r>
              <a:rPr lang="en-US" sz="1600" dirty="0">
                <a:ea typeface="Calibri" pitchFamily="34" charset="-122"/>
                <a:cs typeface="Calibri" pitchFamily="34" charset="-120"/>
              </a:rPr>
              <a:t>Which can be derived from the following stochastic differential equation for a generalized Langevin Model using </a:t>
            </a:r>
            <a:r>
              <a:rPr lang="en-US" sz="1600" b="1" dirty="0" err="1">
                <a:solidFill>
                  <a:srgbClr val="1E2761"/>
                </a:solidFill>
                <a:ea typeface="Calibri" pitchFamily="34" charset="-122"/>
                <a:cs typeface="Calibri" pitchFamily="34" charset="-120"/>
              </a:rPr>
              <a:t>Itô</a:t>
            </a:r>
            <a:r>
              <a:rPr lang="en-US" sz="1600" b="1" dirty="0">
                <a:solidFill>
                  <a:srgbClr val="1E2761"/>
                </a:solidFill>
                <a:ea typeface="Calibri" pitchFamily="34" charset="-122"/>
                <a:cs typeface="Calibri" pitchFamily="34" charset="-120"/>
              </a:rPr>
              <a:t> Calculus</a:t>
            </a:r>
            <a:r>
              <a:rPr lang="en-US" sz="1600" dirty="0">
                <a:ea typeface="Calibri" pitchFamily="34" charset="-122"/>
                <a:cs typeface="Calibri" pitchFamily="34" charset="-120"/>
              </a:rPr>
              <a:t> </a:t>
            </a:r>
            <a:endParaRPr lang="en-US" sz="1600" b="1"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447F433-07BE-FF00-9E87-7405B33D7101}"/>
                  </a:ext>
                </a:extLst>
              </p:cNvPr>
              <p:cNvSpPr txBox="1"/>
              <p:nvPr/>
            </p:nvSpPr>
            <p:spPr>
              <a:xfrm>
                <a:off x="2995117" y="5101579"/>
                <a:ext cx="6201762" cy="383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rPr>
                        <m:t>d</m:t>
                      </m:r>
                      <m:sSup>
                        <m:sSupPr>
                          <m:ctrlPr>
                            <a:rPr lang="en-US" sz="2400" b="0" i="1" smtClean="0">
                              <a:latin typeface="Cambria Math" panose="02040503050406030204" pitchFamily="18" charset="0"/>
                            </a:rPr>
                          </m:ctrlPr>
                        </m:sSupPr>
                        <m:e>
                          <m:r>
                            <a:rPr lang="en-US" sz="2400" b="1" i="1" smtClean="0">
                              <a:latin typeface="Cambria Math" panose="02040503050406030204" pitchFamily="18" charset="0"/>
                            </a:rPr>
                            <m:t>𝑼</m:t>
                          </m:r>
                        </m:e>
                        <m:sup>
                          <m:r>
                            <a:rPr lang="en-US" sz="2400" b="0" i="1" smtClean="0">
                              <a:latin typeface="Cambria Math" panose="02040503050406030204" pitchFamily="18" charset="0"/>
                            </a:rPr>
                            <m:t>∗</m:t>
                          </m:r>
                        </m:sup>
                      </m:sSup>
                      <m:r>
                        <a:rPr lang="en-US" sz="2400" b="1" i="1" smtClean="0">
                          <a:latin typeface="Cambria Math" panose="02040503050406030204" pitchFamily="18" charset="0"/>
                        </a:rPr>
                        <m:t>(</m:t>
                      </m:r>
                      <m:r>
                        <m:rPr>
                          <m:sty m:val="p"/>
                        </m:rPr>
                        <a:rPr lang="en-US" sz="2400" b="1" i="1" smtClean="0">
                          <a:latin typeface="Cambria Math" panose="02040503050406030204" pitchFamily="18" charset="0"/>
                        </a:rPr>
                        <m:t>t</m:t>
                      </m:r>
                      <m:r>
                        <a:rPr lang="en-US" sz="2400" b="1" i="1" smtClean="0">
                          <a:latin typeface="Cambria Math" panose="02040503050406030204" pitchFamily="18" charset="0"/>
                        </a:rPr>
                        <m:t>) = </m:t>
                      </m:r>
                      <m:r>
                        <a:rPr lang="en-US" sz="2400" b="1" i="1" smtClean="0">
                          <a:latin typeface="Cambria Math" panose="02040503050406030204" pitchFamily="18" charset="0"/>
                        </a:rPr>
                        <m:t>𝒂</m:t>
                      </m:r>
                      <m:r>
                        <a:rPr lang="en-US" sz="2400" b="1" i="1" smtClean="0">
                          <a:latin typeface="Cambria Math" panose="02040503050406030204" pitchFamily="18" charset="0"/>
                        </a:rPr>
                        <m:t>(</m:t>
                      </m:r>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𝑼</m:t>
                          </m:r>
                        </m:e>
                        <m:sup>
                          <m:r>
                            <a:rPr lang="en-US" sz="2400" b="1" i="1" smtClean="0">
                              <a:latin typeface="Cambria Math" panose="02040503050406030204" pitchFamily="18" charset="0"/>
                            </a:rPr>
                            <m:t>∗</m:t>
                          </m:r>
                        </m:sup>
                      </m:sSup>
                      <m:r>
                        <a:rPr lang="en-US" sz="2400" b="0" i="0" smtClean="0">
                          <a:latin typeface="Cambria Math" panose="02040503050406030204" pitchFamily="18" charset="0"/>
                        </a:rPr>
                        <m:t>(</m:t>
                      </m:r>
                      <m:r>
                        <m:rPr>
                          <m:sty m:val="p"/>
                        </m:rPr>
                        <a:rPr lang="en-US" sz="2400" b="0" i="0" smtClean="0">
                          <a:latin typeface="Cambria Math" panose="02040503050406030204" pitchFamily="18" charset="0"/>
                        </a:rPr>
                        <m:t>t</m:t>
                      </m:r>
                      <m:r>
                        <a:rPr lang="en-US" sz="2400" b="0" i="0"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1" i="1" smtClean="0">
                              <a:latin typeface="Cambria Math" panose="02040503050406030204" pitchFamily="18" charset="0"/>
                            </a:rPr>
                            <m:t>𝑿</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dt</m:t>
                      </m:r>
                      <m:r>
                        <a:rPr lang="en-US" sz="2400" b="0" i="1" smtClean="0">
                          <a:latin typeface="Cambria Math" panose="02040503050406030204" pitchFamily="18" charset="0"/>
                        </a:rPr>
                        <m:t> + </m:t>
                      </m:r>
                      <m:r>
                        <m:rPr>
                          <m:sty m:val="p"/>
                        </m:rPr>
                        <a:rPr lang="en-US" sz="2400" b="0" i="1" smtClean="0">
                          <a:latin typeface="Cambria Math" panose="02040503050406030204" pitchFamily="18" charset="0"/>
                        </a:rPr>
                        <m:t>b</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1" i="1" smtClean="0">
                              <a:latin typeface="Cambria Math" panose="02040503050406030204" pitchFamily="18" charset="0"/>
                            </a:rPr>
                            <m:t>𝑿</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d</m:t>
                      </m:r>
                      <m:r>
                        <a:rPr lang="en-US" sz="2400" b="1" i="1" smtClean="0">
                          <a:latin typeface="Cambria Math" panose="02040503050406030204" pitchFamily="18" charset="0"/>
                        </a:rPr>
                        <m:t>𝑾</m:t>
                      </m:r>
                    </m:oMath>
                  </m:oMathPara>
                </a14:m>
                <a:endParaRPr lang="en-US" sz="2400" dirty="0"/>
              </a:p>
            </p:txBody>
          </p:sp>
        </mc:Choice>
        <mc:Fallback xmlns="">
          <p:sp>
            <p:nvSpPr>
              <p:cNvPr id="11" name="TextBox 10">
                <a:extLst>
                  <a:ext uri="{FF2B5EF4-FFF2-40B4-BE49-F238E27FC236}">
                    <a16:creationId xmlns:a16="http://schemas.microsoft.com/office/drawing/2014/main" id="{5447F433-07BE-FF00-9E87-7405B33D7101}"/>
                  </a:ext>
                </a:extLst>
              </p:cNvPr>
              <p:cNvSpPr txBox="1">
                <a:spLocks noRot="1" noChangeAspect="1" noMove="1" noResize="1" noEditPoints="1" noAdjustHandles="1" noChangeArrowheads="1" noChangeShapeType="1" noTextEdit="1"/>
              </p:cNvSpPr>
              <p:nvPr/>
            </p:nvSpPr>
            <p:spPr>
              <a:xfrm>
                <a:off x="2995117" y="5101579"/>
                <a:ext cx="6201762" cy="383118"/>
              </a:xfrm>
              <a:prstGeom prst="rect">
                <a:avLst/>
              </a:prstGeom>
              <a:blipFill>
                <a:blip r:embed="rId9"/>
                <a:stretch>
                  <a:fillRect l="-786" t="-3175" r="-688" b="-31746"/>
                </a:stretch>
              </a:blipFill>
            </p:spPr>
            <p:txBody>
              <a:bodyPr/>
              <a:lstStyle/>
              <a:p>
                <a:r>
                  <a:rPr lang="en-US">
                    <a:noFill/>
                  </a:rPr>
                  <a:t> </a:t>
                </a:r>
              </a:p>
            </p:txBody>
          </p:sp>
        </mc:Fallback>
      </mc:AlternateContent>
      <p:sp>
        <p:nvSpPr>
          <p:cNvPr id="12" name="Text 4">
            <a:extLst>
              <a:ext uri="{FF2B5EF4-FFF2-40B4-BE49-F238E27FC236}">
                <a16:creationId xmlns:a16="http://schemas.microsoft.com/office/drawing/2014/main" id="{342CF58E-00C7-19F9-7881-0A2B9EECDE6F}"/>
              </a:ext>
            </a:extLst>
          </p:cNvPr>
          <p:cNvSpPr/>
          <p:nvPr/>
        </p:nvSpPr>
        <p:spPr>
          <a:xfrm>
            <a:off x="853438" y="5562600"/>
            <a:ext cx="10485120" cy="853440"/>
          </a:xfrm>
          <a:prstGeom prst="rect">
            <a:avLst/>
          </a:prstGeom>
          <a:noFill/>
          <a:ln/>
        </p:spPr>
        <p:txBody>
          <a:bodyPr wrap="square" rtlCol="0" anchor="ctr"/>
          <a:lstStyle/>
          <a:p>
            <a:pPr>
              <a:lnSpc>
                <a:spcPct val="130000"/>
              </a:lnSpc>
            </a:pPr>
            <a:r>
              <a:rPr lang="en-US" i="1" dirty="0">
                <a:ea typeface="Calibri" pitchFamily="34" charset="-122"/>
                <a:cs typeface="Calibri" pitchFamily="34" charset="-120"/>
              </a:rPr>
              <a:t>a(</a:t>
            </a:r>
            <a:r>
              <a:rPr lang="en-US" b="1" i="1" dirty="0">
                <a:ea typeface="Calibri" pitchFamily="34" charset="-122"/>
                <a:cs typeface="Calibri" pitchFamily="34" charset="-120"/>
              </a:rPr>
              <a:t>U</a:t>
            </a:r>
            <a:r>
              <a:rPr lang="en-US" i="1" dirty="0">
                <a:ea typeface="Calibri" pitchFamily="34" charset="-122"/>
                <a:cs typeface="Calibri" pitchFamily="34" charset="-120"/>
              </a:rPr>
              <a:t>*(t), </a:t>
            </a:r>
            <a:r>
              <a:rPr lang="en-US" b="1" i="1" dirty="0">
                <a:ea typeface="Calibri" pitchFamily="34" charset="-122"/>
                <a:cs typeface="Calibri" pitchFamily="34" charset="-120"/>
              </a:rPr>
              <a:t>X</a:t>
            </a:r>
            <a:r>
              <a:rPr lang="en-US" i="1" dirty="0">
                <a:ea typeface="Calibri" pitchFamily="34" charset="-122"/>
                <a:cs typeface="Calibri" pitchFamily="34" charset="-120"/>
              </a:rPr>
              <a:t>*(t), t) = drift coefficient     b(</a:t>
            </a:r>
            <a:r>
              <a:rPr lang="en-US" b="1" i="1" dirty="0">
                <a:ea typeface="Calibri" pitchFamily="34" charset="-122"/>
                <a:cs typeface="Calibri" pitchFamily="34" charset="-120"/>
              </a:rPr>
              <a:t>X</a:t>
            </a:r>
            <a:r>
              <a:rPr lang="en-US" i="1" dirty="0">
                <a:ea typeface="Calibri" pitchFamily="34" charset="-122"/>
                <a:cs typeface="Calibri" pitchFamily="34" charset="-120"/>
              </a:rPr>
              <a:t>*(t), t) = diffusion coefficient     </a:t>
            </a:r>
            <a:r>
              <a:rPr lang="en-US" i="1" dirty="0" err="1">
                <a:ea typeface="Calibri" pitchFamily="34" charset="-122"/>
                <a:cs typeface="Calibri" pitchFamily="34" charset="-120"/>
              </a:rPr>
              <a:t>d</a:t>
            </a:r>
            <a:r>
              <a:rPr lang="en-US" b="1" i="1" dirty="0" err="1">
                <a:ea typeface="Calibri" pitchFamily="34" charset="-122"/>
                <a:cs typeface="Calibri" pitchFamily="34" charset="-120"/>
              </a:rPr>
              <a:t>W</a:t>
            </a:r>
            <a:r>
              <a:rPr lang="en-US" i="1" dirty="0">
                <a:ea typeface="Calibri" pitchFamily="34" charset="-122"/>
                <a:cs typeface="Calibri" pitchFamily="34" charset="-120"/>
              </a:rPr>
              <a:t> = Vector Valued Wiener process</a:t>
            </a:r>
            <a:endParaRPr lang="en-US" dirty="0"/>
          </a:p>
        </p:txBody>
      </p:sp>
    </p:spTree>
    <p:extLst>
      <p:ext uri="{BB962C8B-B14F-4D97-AF65-F5344CB8AC3E}">
        <p14:creationId xmlns:p14="http://schemas.microsoft.com/office/powerpoint/2010/main" val="3797350607"/>
      </p:ext>
    </p:extLst>
  </p:cSld>
  <p:clrMapOvr>
    <a:masterClrMapping/>
  </p:clrMapOvr>
  <mc:AlternateContent xmlns:mc="http://schemas.openxmlformats.org/markup-compatibility/2006" xmlns:p14="http://schemas.microsoft.com/office/powerpoint/2010/main">
    <mc:Choice Requires="p14">
      <p:transition p14:dur="10" advTm="95000"/>
    </mc:Choice>
    <mc:Fallback xmlns="">
      <p:transition advTm="95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7BC43-8DB9-A402-4B40-E1E9C15715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77F215-C7B2-81EC-81E9-9F6907E3BC24}"/>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Solution Methods</a:t>
            </a:r>
            <a:endParaRPr lang="en-US" sz="4000" dirty="0"/>
          </a:p>
        </p:txBody>
      </p:sp>
      <p:sp>
        <p:nvSpPr>
          <p:cNvPr id="3" name="Shape 1">
            <a:extLst>
              <a:ext uri="{FF2B5EF4-FFF2-40B4-BE49-F238E27FC236}">
                <a16:creationId xmlns:a16="http://schemas.microsoft.com/office/drawing/2014/main" id="{C9DC391F-CEDE-FE52-4249-5F29C42D9108}"/>
              </a:ext>
            </a:extLst>
          </p:cNvPr>
          <p:cNvSpPr/>
          <p:nvPr/>
        </p:nvSpPr>
        <p:spPr>
          <a:xfrm>
            <a:off x="853440" y="1599211"/>
            <a:ext cx="4998720" cy="4145280"/>
          </a:xfrm>
          <a:prstGeom prst="rect">
            <a:avLst/>
          </a:prstGeom>
          <a:solidFill>
            <a:srgbClr val="F0F2F7"/>
          </a:solidFill>
          <a:ln/>
        </p:spPr>
      </p:sp>
      <p:sp>
        <p:nvSpPr>
          <p:cNvPr id="4" name="Shape 5">
            <a:extLst>
              <a:ext uri="{FF2B5EF4-FFF2-40B4-BE49-F238E27FC236}">
                <a16:creationId xmlns:a16="http://schemas.microsoft.com/office/drawing/2014/main" id="{ABD2DDA9-0AEB-C819-DF45-9A4B5A95A6CE}"/>
              </a:ext>
            </a:extLst>
          </p:cNvPr>
          <p:cNvSpPr/>
          <p:nvPr/>
        </p:nvSpPr>
        <p:spPr>
          <a:xfrm>
            <a:off x="6339840" y="1599211"/>
            <a:ext cx="4998720" cy="4145280"/>
          </a:xfrm>
          <a:prstGeom prst="rect">
            <a:avLst/>
          </a:prstGeom>
          <a:solidFill>
            <a:srgbClr val="F0F2F7"/>
          </a:solidFill>
          <a:ln/>
        </p:spPr>
      </p:sp>
      <p:sp>
        <p:nvSpPr>
          <p:cNvPr id="5" name="Text 2">
            <a:extLst>
              <a:ext uri="{FF2B5EF4-FFF2-40B4-BE49-F238E27FC236}">
                <a16:creationId xmlns:a16="http://schemas.microsoft.com/office/drawing/2014/main" id="{92CDB38E-A9EF-696A-6476-84942EA55D52}"/>
              </a:ext>
            </a:extLst>
          </p:cNvPr>
          <p:cNvSpPr/>
          <p:nvPr/>
        </p:nvSpPr>
        <p:spPr>
          <a:xfrm>
            <a:off x="975360" y="1660171"/>
            <a:ext cx="4754880" cy="487680"/>
          </a:xfrm>
          <a:prstGeom prst="rect">
            <a:avLst/>
          </a:prstGeom>
          <a:noFill/>
          <a:ln/>
        </p:spPr>
        <p:txBody>
          <a:bodyPr wrap="square" rtlCol="0" anchor="ctr"/>
          <a:lstStyle/>
          <a:p>
            <a:r>
              <a:rPr lang="en-US" sz="2267" b="1" dirty="0">
                <a:solidFill>
                  <a:srgbClr val="0070C0"/>
                </a:solidFill>
                <a:latin typeface="Calibri" pitchFamily="34" charset="0"/>
                <a:ea typeface="Calibri" pitchFamily="34" charset="-122"/>
                <a:cs typeface="Calibri" pitchFamily="34" charset="-120"/>
              </a:rPr>
              <a:t>Eulerian (Grid-Based)</a:t>
            </a:r>
            <a:endParaRPr lang="en-US" sz="2267" dirty="0">
              <a:solidFill>
                <a:srgbClr val="0070C0"/>
              </a:solidFill>
            </a:endParaRPr>
          </a:p>
        </p:txBody>
      </p:sp>
      <p:sp>
        <p:nvSpPr>
          <p:cNvPr id="6" name="Text 6">
            <a:extLst>
              <a:ext uri="{FF2B5EF4-FFF2-40B4-BE49-F238E27FC236}">
                <a16:creationId xmlns:a16="http://schemas.microsoft.com/office/drawing/2014/main" id="{8485DCE1-00D7-E43B-3EDF-B62444CD3B6C}"/>
              </a:ext>
            </a:extLst>
          </p:cNvPr>
          <p:cNvSpPr/>
          <p:nvPr/>
        </p:nvSpPr>
        <p:spPr>
          <a:xfrm>
            <a:off x="6461760" y="1660171"/>
            <a:ext cx="4754880" cy="487680"/>
          </a:xfrm>
          <a:prstGeom prst="rect">
            <a:avLst/>
          </a:prstGeom>
          <a:noFill/>
          <a:ln/>
        </p:spPr>
        <p:txBody>
          <a:bodyPr wrap="square" rtlCol="0" anchor="ctr"/>
          <a:lstStyle/>
          <a:p>
            <a:r>
              <a:rPr lang="en-US" sz="2267" b="1" dirty="0">
                <a:solidFill>
                  <a:schemeClr val="accent6">
                    <a:lumMod val="75000"/>
                  </a:schemeClr>
                </a:solidFill>
                <a:latin typeface="Calibri" pitchFamily="34" charset="0"/>
                <a:ea typeface="Calibri" pitchFamily="34" charset="-122"/>
                <a:cs typeface="Calibri" pitchFamily="34" charset="-120"/>
              </a:rPr>
              <a:t>Lagrangian (Particle-Based)</a:t>
            </a:r>
            <a:endParaRPr lang="en-US" sz="2267" dirty="0">
              <a:solidFill>
                <a:schemeClr val="accent6">
                  <a:lumMod val="75000"/>
                </a:schemeClr>
              </a:solidFill>
            </a:endParaRPr>
          </a:p>
        </p:txBody>
      </p:sp>
      <p:sp>
        <p:nvSpPr>
          <p:cNvPr id="7" name="Text 3">
            <a:extLst>
              <a:ext uri="{FF2B5EF4-FFF2-40B4-BE49-F238E27FC236}">
                <a16:creationId xmlns:a16="http://schemas.microsoft.com/office/drawing/2014/main" id="{00114D15-9482-5AF2-17D8-1B4BFA9CDCE9}"/>
              </a:ext>
            </a:extLst>
          </p:cNvPr>
          <p:cNvSpPr/>
          <p:nvPr/>
        </p:nvSpPr>
        <p:spPr>
          <a:xfrm>
            <a:off x="975360" y="2147851"/>
            <a:ext cx="4754880" cy="365760"/>
          </a:xfrm>
          <a:prstGeom prst="rect">
            <a:avLst/>
          </a:prstGeom>
          <a:noFill/>
          <a:ln/>
        </p:spPr>
        <p:txBody>
          <a:bodyPr wrap="square" rtlCol="0" anchor="ctr"/>
          <a:lstStyle/>
          <a:p>
            <a:r>
              <a:rPr lang="en-US" sz="1600" i="1" dirty="0">
                <a:ea typeface="Calibri" pitchFamily="34" charset="-122"/>
                <a:cs typeface="Calibri" pitchFamily="34" charset="-120"/>
              </a:rPr>
              <a:t>Solve the PDE directly on a fixed grid</a:t>
            </a:r>
            <a:endParaRPr lang="en-US" sz="1600" dirty="0"/>
          </a:p>
        </p:txBody>
      </p:sp>
      <p:sp>
        <p:nvSpPr>
          <p:cNvPr id="8" name="Text 7">
            <a:extLst>
              <a:ext uri="{FF2B5EF4-FFF2-40B4-BE49-F238E27FC236}">
                <a16:creationId xmlns:a16="http://schemas.microsoft.com/office/drawing/2014/main" id="{3C32902E-DD01-F0EB-2AD7-ED4BFCE9DD82}"/>
              </a:ext>
            </a:extLst>
          </p:cNvPr>
          <p:cNvSpPr/>
          <p:nvPr/>
        </p:nvSpPr>
        <p:spPr>
          <a:xfrm>
            <a:off x="6461760" y="2147851"/>
            <a:ext cx="4754880" cy="365760"/>
          </a:xfrm>
          <a:prstGeom prst="rect">
            <a:avLst/>
          </a:prstGeom>
          <a:noFill/>
          <a:ln/>
        </p:spPr>
        <p:txBody>
          <a:bodyPr wrap="square" rtlCol="0" anchor="ctr"/>
          <a:lstStyle/>
          <a:p>
            <a:r>
              <a:rPr lang="en-US" sz="1600" i="1" dirty="0">
                <a:ea typeface="Calibri" pitchFamily="34" charset="-122"/>
                <a:cs typeface="Calibri" pitchFamily="34" charset="-120"/>
              </a:rPr>
              <a:t>Simulate random trajectories</a:t>
            </a:r>
            <a:endParaRPr lang="en-US" sz="1600" dirty="0"/>
          </a:p>
        </p:txBody>
      </p:sp>
      <p:sp>
        <p:nvSpPr>
          <p:cNvPr id="9" name="Text 4">
            <a:extLst>
              <a:ext uri="{FF2B5EF4-FFF2-40B4-BE49-F238E27FC236}">
                <a16:creationId xmlns:a16="http://schemas.microsoft.com/office/drawing/2014/main" id="{27EB46AC-6226-AF2E-E96F-27AE4B28481A}"/>
              </a:ext>
            </a:extLst>
          </p:cNvPr>
          <p:cNvSpPr/>
          <p:nvPr/>
        </p:nvSpPr>
        <p:spPr>
          <a:xfrm>
            <a:off x="975360" y="2635531"/>
            <a:ext cx="4754880" cy="2926080"/>
          </a:xfrm>
          <a:prstGeom prst="rect">
            <a:avLst/>
          </a:prstGeom>
          <a:noFill/>
          <a:ln/>
        </p:spPr>
        <p:txBody>
          <a:bodyPr wrap="square" rtlCol="0" anchor="t"/>
          <a:lstStyle/>
          <a:p>
            <a:pPr>
              <a:lnSpc>
                <a:spcPct val="115000"/>
              </a:lnSpc>
            </a:pPr>
            <a:r>
              <a:rPr lang="en-US" sz="1600" b="1" dirty="0">
                <a:ea typeface="Calibri" pitchFamily="34" charset="-122"/>
                <a:cs typeface="Calibri" pitchFamily="34" charset="-120"/>
              </a:rPr>
              <a:t>Methods: </a:t>
            </a:r>
            <a:r>
              <a:rPr lang="en-US" sz="1600" dirty="0">
                <a:ea typeface="Calibri" pitchFamily="34" charset="-122"/>
                <a:cs typeface="Calibri" pitchFamily="34" charset="-120"/>
              </a:rPr>
              <a:t>Finite Volume, Finite Difference, Finite element</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chemeClr val="accent6">
                    <a:lumMod val="75000"/>
                  </a:schemeClr>
                </a:solidFill>
                <a:ea typeface="Calibri" pitchFamily="34" charset="-122"/>
                <a:cs typeface="Calibri" pitchFamily="34" charset="-120"/>
              </a:rPr>
              <a:t>Advantage</a:t>
            </a:r>
            <a:r>
              <a:rPr lang="en-US" sz="1600" b="1" dirty="0">
                <a:solidFill>
                  <a:srgbClr val="2D7D5F"/>
                </a:solidFill>
                <a:ea typeface="Calibri" pitchFamily="34" charset="-122"/>
                <a:cs typeface="Calibri" pitchFamily="34" charset="-120"/>
              </a:rPr>
              <a:t>: </a:t>
            </a:r>
            <a:r>
              <a:rPr lang="en-US" sz="1600" dirty="0">
                <a:ea typeface="Calibri" pitchFamily="34" charset="-122"/>
                <a:cs typeface="Calibri" pitchFamily="34" charset="-120"/>
              </a:rPr>
              <a:t>No statistical noise</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rgbClr val="C00000"/>
                </a:solidFill>
                <a:ea typeface="Calibri" pitchFamily="34" charset="-122"/>
                <a:cs typeface="Calibri" pitchFamily="34" charset="-120"/>
              </a:rPr>
              <a:t>Limitation:</a:t>
            </a:r>
            <a:r>
              <a:rPr lang="en-US" sz="1600" b="1" dirty="0">
                <a:solidFill>
                  <a:srgbClr val="A63D40"/>
                </a:solidFill>
                <a:ea typeface="Calibri" pitchFamily="34" charset="-122"/>
                <a:cs typeface="Calibri" pitchFamily="34" charset="-120"/>
              </a:rPr>
              <a:t> </a:t>
            </a:r>
            <a:r>
              <a:rPr lang="en-US" sz="1600" dirty="0">
                <a:ea typeface="Calibri" pitchFamily="34" charset="-122"/>
                <a:cs typeface="Calibri" pitchFamily="34" charset="-120"/>
              </a:rPr>
              <a:t>Scales poorly to high dimensions</a:t>
            </a:r>
            <a:endParaRPr lang="en-US" sz="1600" dirty="0"/>
          </a:p>
        </p:txBody>
      </p:sp>
      <mc:AlternateContent xmlns:mc="http://schemas.openxmlformats.org/markup-compatibility/2006" xmlns:a14="http://schemas.microsoft.com/office/drawing/2010/main">
        <mc:Choice Requires="a14">
          <p:sp>
            <p:nvSpPr>
              <p:cNvPr id="11" name="Text 8">
                <a:extLst>
                  <a:ext uri="{FF2B5EF4-FFF2-40B4-BE49-F238E27FC236}">
                    <a16:creationId xmlns:a16="http://schemas.microsoft.com/office/drawing/2014/main" id="{5E800F9E-057D-08D8-0A0E-938CE83BDD78}"/>
                  </a:ext>
                </a:extLst>
              </p:cNvPr>
              <p:cNvSpPr/>
              <p:nvPr/>
            </p:nvSpPr>
            <p:spPr>
              <a:xfrm>
                <a:off x="6461760" y="2635531"/>
                <a:ext cx="4754880" cy="2926080"/>
              </a:xfrm>
              <a:prstGeom prst="rect">
                <a:avLst/>
              </a:prstGeom>
              <a:noFill/>
              <a:ln/>
            </p:spPr>
            <p:txBody>
              <a:bodyPr wrap="square" rtlCol="0" anchor="t"/>
              <a:lstStyle/>
              <a:p>
                <a:pPr>
                  <a:lnSpc>
                    <a:spcPct val="115000"/>
                  </a:lnSpc>
                </a:pPr>
                <a:r>
                  <a:rPr lang="en-US" sz="1600" b="1" dirty="0">
                    <a:ea typeface="Calibri" pitchFamily="34" charset="-122"/>
                    <a:cs typeface="Calibri" pitchFamily="34" charset="-120"/>
                  </a:rPr>
                  <a:t>BSM: </a:t>
                </a:r>
                <a:r>
                  <a:rPr lang="en-US" sz="1600" dirty="0">
                    <a:ea typeface="Calibri" pitchFamily="34" charset="-122"/>
                    <a:cs typeface="Calibri" pitchFamily="34" charset="-120"/>
                  </a:rPr>
                  <a:t>Monte Carlo simulation</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ea typeface="Calibri" pitchFamily="34" charset="-122"/>
                    <a:cs typeface="Calibri" pitchFamily="34" charset="-120"/>
                  </a:rPr>
                  <a:t>CFD: </a:t>
                </a:r>
                <a:r>
                  <a:rPr lang="en-US" sz="1600" dirty="0">
                    <a:ea typeface="Calibri" pitchFamily="34" charset="-122"/>
                    <a:cs typeface="Calibri" pitchFamily="34" charset="-120"/>
                  </a:rPr>
                  <a:t>Lagrangian particle method</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chemeClr val="accent6">
                        <a:lumMod val="75000"/>
                      </a:schemeClr>
                    </a:solidFill>
                    <a:ea typeface="Calibri" pitchFamily="34" charset="-122"/>
                    <a:cs typeface="Calibri" pitchFamily="34" charset="-120"/>
                  </a:rPr>
                  <a:t>Advantage</a:t>
                </a:r>
                <a:r>
                  <a:rPr lang="en-US" sz="1600" b="1" dirty="0">
                    <a:solidFill>
                      <a:srgbClr val="2D7D5F"/>
                    </a:solidFill>
                    <a:ea typeface="Calibri" pitchFamily="34" charset="-122"/>
                    <a:cs typeface="Calibri" pitchFamily="34" charset="-120"/>
                  </a:rPr>
                  <a:t>: </a:t>
                </a:r>
                <a:r>
                  <a:rPr lang="en-US" sz="1600" dirty="0">
                    <a:ea typeface="Calibri" pitchFamily="34" charset="-122"/>
                    <a:cs typeface="Calibri" pitchFamily="34" charset="-120"/>
                  </a:rPr>
                  <a:t>Scales to high dimensions, compatible with CPUs/accelerators </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rgbClr val="C00000"/>
                    </a:solidFill>
                    <a:ea typeface="Calibri" pitchFamily="34" charset="-122"/>
                    <a:cs typeface="Calibri" pitchFamily="34" charset="-120"/>
                  </a:rPr>
                  <a:t>Limitation:</a:t>
                </a:r>
                <a:r>
                  <a:rPr lang="en-US" sz="1600" b="1" dirty="0">
                    <a:solidFill>
                      <a:srgbClr val="A63D40"/>
                    </a:solidFill>
                    <a:ea typeface="Calibri" pitchFamily="34" charset="-122"/>
                    <a:cs typeface="Calibri" pitchFamily="34" charset="-120"/>
                  </a:rPr>
                  <a:t> </a:t>
                </a:r>
                <a:r>
                  <a:rPr lang="en-US" sz="1600" dirty="0">
                    <a:solidFill>
                      <a:schemeClr val="tx1"/>
                    </a:solidFill>
                    <a:ea typeface="Calibri" pitchFamily="34" charset="-122"/>
                    <a:cs typeface="Calibri" pitchFamily="34" charset="-120"/>
                  </a:rPr>
                  <a:t>Statistical noise, slow</a:t>
                </a:r>
                <a:endParaRPr lang="en-US" sz="1600" dirty="0">
                  <a:solidFill>
                    <a:schemeClr val="tx1"/>
                  </a:solidFill>
                </a:endParaRPr>
              </a:p>
              <a:p>
                <a:pPr>
                  <a:lnSpc>
                    <a:spcPct val="115000"/>
                  </a:lnSpc>
                </a:pPr>
                <a:r>
                  <a:rPr lang="en-US" sz="1600" dirty="0">
                    <a:solidFill>
                      <a:schemeClr val="tx1"/>
                    </a:solidFill>
                    <a:ea typeface="Calibri" pitchFamily="34" charset="-122"/>
                    <a:cs typeface="Calibri" pitchFamily="34" charset="-120"/>
                  </a:rPr>
                  <a:t>convergence </a:t>
                </a:r>
                <a14:m>
                  <m:oMath xmlns:m="http://schemas.openxmlformats.org/officeDocument/2006/math">
                    <m:d>
                      <m:dPr>
                        <m:ctrlPr>
                          <a:rPr lang="en-US" sz="1600" i="1" smtClean="0">
                            <a:solidFill>
                              <a:schemeClr val="tx1"/>
                            </a:solidFill>
                            <a:latin typeface="Cambria Math" panose="02040503050406030204" pitchFamily="18" charset="0"/>
                            <a:ea typeface="Calibri" pitchFamily="34" charset="-122"/>
                            <a:cs typeface="Calibri" pitchFamily="34" charset="-120"/>
                          </a:rPr>
                        </m:ctrlPr>
                      </m:dPr>
                      <m:e>
                        <m:r>
                          <a:rPr lang="en-US" sz="1600" i="1" dirty="0">
                            <a:solidFill>
                              <a:schemeClr val="tx1"/>
                            </a:solidFill>
                            <a:latin typeface="Cambria Math" panose="02040503050406030204" pitchFamily="18" charset="0"/>
                            <a:ea typeface="Calibri" pitchFamily="34" charset="-122"/>
                            <a:cs typeface="Calibri" pitchFamily="34" charset="-120"/>
                          </a:rPr>
                          <m:t>𝑒𝑟𝑟𝑜𝑟</m:t>
                        </m:r>
                        <m:r>
                          <a:rPr lang="en-US" sz="1600" i="1" dirty="0">
                            <a:solidFill>
                              <a:schemeClr val="tx1"/>
                            </a:solidFill>
                            <a:latin typeface="Cambria Math" panose="02040503050406030204" pitchFamily="18" charset="0"/>
                            <a:ea typeface="Calibri" pitchFamily="34" charset="-122"/>
                            <a:cs typeface="Calibri" pitchFamily="34" charset="-120"/>
                          </a:rPr>
                          <m:t> ~ </m:t>
                        </m:r>
                        <m:f>
                          <m:fPr>
                            <m:type m:val="lin"/>
                            <m:ctrlPr>
                              <a:rPr lang="en-US" sz="1600" i="1" dirty="0">
                                <a:solidFill>
                                  <a:schemeClr val="tx1"/>
                                </a:solidFill>
                                <a:latin typeface="Cambria Math" panose="02040503050406030204" pitchFamily="18" charset="0"/>
                                <a:ea typeface="Calibri" pitchFamily="34" charset="-122"/>
                                <a:cs typeface="Calibri" pitchFamily="34" charset="-120"/>
                              </a:rPr>
                            </m:ctrlPr>
                          </m:fPr>
                          <m:num>
                            <m:r>
                              <a:rPr lang="en-US" sz="1600" i="1" dirty="0">
                                <a:solidFill>
                                  <a:schemeClr val="tx1"/>
                                </a:solidFill>
                                <a:latin typeface="Cambria Math" panose="02040503050406030204" pitchFamily="18" charset="0"/>
                                <a:ea typeface="Calibri" pitchFamily="34" charset="-122"/>
                                <a:cs typeface="Calibri" pitchFamily="34" charset="-120"/>
                              </a:rPr>
                              <m:t>1</m:t>
                            </m:r>
                          </m:num>
                          <m:den>
                            <m:rad>
                              <m:radPr>
                                <m:degHide m:val="on"/>
                                <m:ctrlPr>
                                  <a:rPr lang="en-US" sz="1600" i="1" dirty="0">
                                    <a:solidFill>
                                      <a:schemeClr val="tx1"/>
                                    </a:solidFill>
                                    <a:latin typeface="Cambria Math" panose="02040503050406030204" pitchFamily="18" charset="0"/>
                                    <a:ea typeface="Calibri" pitchFamily="34" charset="-122"/>
                                    <a:cs typeface="Calibri" pitchFamily="34" charset="-120"/>
                                  </a:rPr>
                                </m:ctrlPr>
                              </m:radPr>
                              <m:deg/>
                              <m:e>
                                <m:r>
                                  <m:rPr>
                                    <m:sty m:val="p"/>
                                  </m:rPr>
                                  <a:rPr lang="en-US" sz="1600" i="1" dirty="0">
                                    <a:solidFill>
                                      <a:schemeClr val="tx1"/>
                                    </a:solidFill>
                                    <a:latin typeface="Cambria Math" panose="02040503050406030204" pitchFamily="18" charset="0"/>
                                    <a:ea typeface="Calibri" pitchFamily="34" charset="-122"/>
                                    <a:cs typeface="Calibri" pitchFamily="34" charset="-120"/>
                                  </a:rPr>
                                  <m:t>N</m:t>
                                </m:r>
                              </m:e>
                            </m:rad>
                          </m:den>
                        </m:f>
                      </m:e>
                    </m:d>
                  </m:oMath>
                </a14:m>
                <a:r>
                  <a:rPr lang="en-US" sz="1600" dirty="0">
                    <a:solidFill>
                      <a:schemeClr val="tx1"/>
                    </a:solidFill>
                  </a:rPr>
                  <a:t>, high computational cost</a:t>
                </a:r>
              </a:p>
            </p:txBody>
          </p:sp>
        </mc:Choice>
        <mc:Fallback xmlns="">
          <p:sp>
            <p:nvSpPr>
              <p:cNvPr id="11" name="Text 8">
                <a:extLst>
                  <a:ext uri="{FF2B5EF4-FFF2-40B4-BE49-F238E27FC236}">
                    <a16:creationId xmlns:a16="http://schemas.microsoft.com/office/drawing/2014/main" id="{5E800F9E-057D-08D8-0A0E-938CE83BDD78}"/>
                  </a:ext>
                </a:extLst>
              </p:cNvPr>
              <p:cNvSpPr>
                <a:spLocks noRot="1" noChangeAspect="1" noMove="1" noResize="1" noEditPoints="1" noAdjustHandles="1" noChangeArrowheads="1" noChangeShapeType="1" noTextEdit="1"/>
              </p:cNvSpPr>
              <p:nvPr/>
            </p:nvSpPr>
            <p:spPr>
              <a:xfrm>
                <a:off x="6461760" y="2635531"/>
                <a:ext cx="4754880" cy="2926080"/>
              </a:xfrm>
              <a:prstGeom prst="rect">
                <a:avLst/>
              </a:prstGeom>
              <a:blipFill>
                <a:blip r:embed="rId5"/>
                <a:stretch>
                  <a:fillRect l="-641" r="-1026" b="-9167"/>
                </a:stretch>
              </a:blipFill>
              <a:ln/>
            </p:spPr>
            <p:txBody>
              <a:bodyPr/>
              <a:lstStyle/>
              <a:p>
                <a:r>
                  <a:rPr lang="en-US">
                    <a:noFill/>
                  </a:rPr>
                  <a:t> </a:t>
                </a:r>
              </a:p>
            </p:txBody>
          </p:sp>
        </mc:Fallback>
      </mc:AlternateContent>
    </p:spTree>
    <p:extLst>
      <p:ext uri="{BB962C8B-B14F-4D97-AF65-F5344CB8AC3E}">
        <p14:creationId xmlns:p14="http://schemas.microsoft.com/office/powerpoint/2010/main" val="1402031525"/>
      </p:ext>
    </p:extLst>
  </p:cSld>
  <p:clrMapOvr>
    <a:masterClrMapping/>
  </p:clrMapOvr>
  <mc:AlternateContent xmlns:mc="http://schemas.openxmlformats.org/markup-compatibility/2006" xmlns:p14="http://schemas.microsoft.com/office/powerpoint/2010/main">
    <mc:Choice Requires="p14">
      <p:transition p14:dur="10" advTm="8000"/>
    </mc:Choice>
    <mc:Fallback xmlns="">
      <p:transition advTm="8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9668A-9E31-7041-2EA2-C4CBE278A8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5C59B9-67E8-FE3A-09AC-35447CF2452D}"/>
              </a:ext>
            </a:extLst>
          </p:cNvPr>
          <p:cNvSpPr/>
          <p:nvPr/>
        </p:nvSpPr>
        <p:spPr>
          <a:xfrm>
            <a:off x="853440" y="365760"/>
            <a:ext cx="10485120" cy="731520"/>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E2761"/>
                </a:solidFill>
                <a:effectLst/>
                <a:uLnTx/>
                <a:uFillTx/>
                <a:latin typeface="Georgia" pitchFamily="34" charset="0"/>
                <a:ea typeface="Georgia" pitchFamily="34" charset="-122"/>
                <a:cs typeface="Georgia" pitchFamily="34" charset="-120"/>
              </a:rPr>
              <a:t>Results: PDF Transport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83D200F-4D82-34F6-65D9-E07036D604BF}"/>
              </a:ext>
            </a:extLst>
          </p:cNvPr>
          <p:cNvPicPr>
            <a:picLocks noChangeAspect="1"/>
          </p:cNvPicPr>
          <p:nvPr/>
        </p:nvPicPr>
        <p:blipFill>
          <a:blip r:embed="rId3"/>
          <a:stretch>
            <a:fillRect/>
          </a:stretch>
        </p:blipFill>
        <p:spPr>
          <a:xfrm>
            <a:off x="1961029" y="1097280"/>
            <a:ext cx="8269941" cy="5513294"/>
          </a:xfrm>
          <a:prstGeom prst="rect">
            <a:avLst/>
          </a:prstGeom>
        </p:spPr>
      </p:pic>
    </p:spTree>
    <p:extLst>
      <p:ext uri="{BB962C8B-B14F-4D97-AF65-F5344CB8AC3E}">
        <p14:creationId xmlns:p14="http://schemas.microsoft.com/office/powerpoint/2010/main" val="49974312"/>
      </p:ext>
    </p:extLst>
  </p:cSld>
  <p:clrMapOvr>
    <a:masterClrMapping/>
  </p:clrMapOvr>
  <mc:AlternateContent xmlns:mc="http://schemas.openxmlformats.org/markup-compatibility/2006" xmlns:p14="http://schemas.microsoft.com/office/powerpoint/2010/main">
    <mc:Choice Requires="p14">
      <p:transition p14:dur="10" advTm="8000"/>
    </mc:Choice>
    <mc:Fallback xmlns="">
      <p:transition advTm="8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F4FD7-9D2C-108E-0BFD-CD4F8E32C8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9755A4-9EC0-77D2-8361-F923A1526CBF}"/>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Monte Carlo Convergence</a:t>
            </a:r>
            <a:endParaRPr lang="en-US" sz="4000" dirty="0"/>
          </a:p>
        </p:txBody>
      </p:sp>
      <p:pic>
        <p:nvPicPr>
          <p:cNvPr id="3" name="Picture 2">
            <a:extLst>
              <a:ext uri="{FF2B5EF4-FFF2-40B4-BE49-F238E27FC236}">
                <a16:creationId xmlns:a16="http://schemas.microsoft.com/office/drawing/2014/main" id="{6ED86520-5126-2CCD-2548-5556ED694E46}"/>
              </a:ext>
            </a:extLst>
          </p:cNvPr>
          <p:cNvPicPr>
            <a:picLocks noChangeAspect="1"/>
          </p:cNvPicPr>
          <p:nvPr/>
        </p:nvPicPr>
        <p:blipFill>
          <a:blip r:embed="rId3"/>
          <a:stretch>
            <a:fillRect/>
          </a:stretch>
        </p:blipFill>
        <p:spPr>
          <a:xfrm>
            <a:off x="1879226" y="1097280"/>
            <a:ext cx="8433547" cy="5622365"/>
          </a:xfrm>
          <a:prstGeom prst="rect">
            <a:avLst/>
          </a:prstGeom>
        </p:spPr>
      </p:pic>
    </p:spTree>
    <p:extLst>
      <p:ext uri="{BB962C8B-B14F-4D97-AF65-F5344CB8AC3E}">
        <p14:creationId xmlns:p14="http://schemas.microsoft.com/office/powerpoint/2010/main" val="3370033777"/>
      </p:ext>
    </p:extLst>
  </p:cSld>
  <p:clrMapOvr>
    <a:masterClrMapping/>
  </p:clrMapOvr>
  <mc:AlternateContent xmlns:mc="http://schemas.openxmlformats.org/markup-compatibility/2006" xmlns:p14="http://schemas.microsoft.com/office/powerpoint/2010/main">
    <mc:Choice Requires="p14">
      <p:transition p14:dur="10" advTm="12000"/>
    </mc:Choice>
    <mc:Fallback xmlns="">
      <p:transition advTm="12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961</TotalTime>
  <Words>1917</Words>
  <Application>Microsoft Office PowerPoint</Application>
  <PresentationFormat>Widescreen</PresentationFormat>
  <Paragraphs>132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 Math</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DiPietrantonio</dc:creator>
  <cp:lastModifiedBy>Christian DiPietrantonio</cp:lastModifiedBy>
  <cp:revision>94</cp:revision>
  <dcterms:created xsi:type="dcterms:W3CDTF">2026-04-23T14:28:11Z</dcterms:created>
  <dcterms:modified xsi:type="dcterms:W3CDTF">2026-04-28T02:43:47Z</dcterms:modified>
</cp:coreProperties>
</file>